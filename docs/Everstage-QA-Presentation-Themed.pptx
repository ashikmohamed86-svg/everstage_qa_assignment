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733"/>
          </a:solidFill>
          <a:ln/>
        </p:spPr>
      </p:sp>
      <p:sp>
        <p:nvSpPr>
          <p:cNvPr id="3" name="Shape 1"/>
          <p:cNvSpPr/>
          <p:nvPr/>
        </p:nvSpPr>
        <p:spPr>
          <a:xfrm>
            <a:off x="7162495" y="0"/>
            <a:ext cx="5029200" cy="6858000"/>
          </a:xfrm>
          <a:prstGeom prst="rect">
            <a:avLst/>
          </a:prstGeom>
          <a:solidFill>
            <a:srgbClr val="111E40">
              <a:alpha val="7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448495" y="0"/>
            <a:ext cx="2743200" cy="6858000"/>
          </a:xfrm>
          <a:prstGeom prst="rect">
            <a:avLst/>
          </a:prstGeom>
          <a:solidFill>
            <a:srgbClr val="1A2853">
              <a:alpha val="6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643055" y="0"/>
            <a:ext cx="548640" cy="6858000"/>
          </a:xfrm>
          <a:prstGeom prst="rect">
            <a:avLst/>
          </a:prstGeom>
          <a:solidFill>
            <a:srgbClr val="4F6BFF"/>
          </a:solidFill>
          <a:ln/>
        </p:spPr>
      </p:sp>
      <p:sp>
        <p:nvSpPr>
          <p:cNvPr id="6" name="Shape 4"/>
          <p:cNvSpPr/>
          <p:nvPr/>
        </p:nvSpPr>
        <p:spPr>
          <a:xfrm>
            <a:off x="7985455" y="4846320"/>
            <a:ext cx="54864" cy="54864"/>
          </a:xfrm>
          <a:prstGeom prst="ellipse">
            <a:avLst/>
          </a:prstGeom>
          <a:solidFill>
            <a:srgbClr val="5EE7FF">
              <a:alpha val="4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8396935" y="4846320"/>
            <a:ext cx="54864" cy="54864"/>
          </a:xfrm>
          <a:prstGeom prst="ellipse">
            <a:avLst/>
          </a:prstGeom>
          <a:solidFill>
            <a:srgbClr val="5EE7FF">
              <a:alpha val="4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8808415" y="4846320"/>
            <a:ext cx="54864" cy="54864"/>
          </a:xfrm>
          <a:prstGeom prst="ellipse">
            <a:avLst/>
          </a:prstGeom>
          <a:solidFill>
            <a:srgbClr val="5EE7FF">
              <a:alpha val="4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9219895" y="4846320"/>
            <a:ext cx="54864" cy="54864"/>
          </a:xfrm>
          <a:prstGeom prst="ellipse">
            <a:avLst/>
          </a:prstGeom>
          <a:solidFill>
            <a:srgbClr val="5EE7FF">
              <a:alpha val="4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7985455" y="5212080"/>
            <a:ext cx="54864" cy="54864"/>
          </a:xfrm>
          <a:prstGeom prst="ellipse">
            <a:avLst/>
          </a:prstGeom>
          <a:solidFill>
            <a:srgbClr val="5EE7FF">
              <a:alpha val="4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396935" y="5212080"/>
            <a:ext cx="54864" cy="54864"/>
          </a:xfrm>
          <a:prstGeom prst="ellipse">
            <a:avLst/>
          </a:prstGeom>
          <a:solidFill>
            <a:srgbClr val="5EE7FF">
              <a:alpha val="4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8808415" y="5212080"/>
            <a:ext cx="54864" cy="54864"/>
          </a:xfrm>
          <a:prstGeom prst="ellipse">
            <a:avLst/>
          </a:prstGeom>
          <a:solidFill>
            <a:srgbClr val="5EE7FF">
              <a:alpha val="4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219895" y="5212080"/>
            <a:ext cx="54864" cy="54864"/>
          </a:xfrm>
          <a:prstGeom prst="ellipse">
            <a:avLst/>
          </a:prstGeom>
          <a:solidFill>
            <a:srgbClr val="5EE7FF">
              <a:alpha val="4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7985455" y="5577840"/>
            <a:ext cx="54864" cy="54864"/>
          </a:xfrm>
          <a:prstGeom prst="ellipse">
            <a:avLst/>
          </a:prstGeom>
          <a:solidFill>
            <a:srgbClr val="5EE7FF">
              <a:alpha val="4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8396935" y="5577840"/>
            <a:ext cx="54864" cy="54864"/>
          </a:xfrm>
          <a:prstGeom prst="ellipse">
            <a:avLst/>
          </a:prstGeom>
          <a:solidFill>
            <a:srgbClr val="5EE7FF">
              <a:alpha val="40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8808415" y="5577840"/>
            <a:ext cx="54864" cy="54864"/>
          </a:xfrm>
          <a:prstGeom prst="ellipse">
            <a:avLst/>
          </a:prstGeom>
          <a:solidFill>
            <a:srgbClr val="5EE7FF">
              <a:alpha val="40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9219895" y="5577840"/>
            <a:ext cx="54864" cy="54864"/>
          </a:xfrm>
          <a:prstGeom prst="ellipse">
            <a:avLst/>
          </a:prstGeom>
          <a:solidFill>
            <a:srgbClr val="5EE7FF">
              <a:alpha val="40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7985455" y="5943600"/>
            <a:ext cx="54864" cy="54864"/>
          </a:xfrm>
          <a:prstGeom prst="ellipse">
            <a:avLst/>
          </a:prstGeom>
          <a:solidFill>
            <a:srgbClr val="5EE7FF">
              <a:alpha val="40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8396935" y="5943600"/>
            <a:ext cx="54864" cy="54864"/>
          </a:xfrm>
          <a:prstGeom prst="ellipse">
            <a:avLst/>
          </a:prstGeom>
          <a:solidFill>
            <a:srgbClr val="5EE7FF">
              <a:alpha val="40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8808415" y="5943600"/>
            <a:ext cx="54864" cy="54864"/>
          </a:xfrm>
          <a:prstGeom prst="ellipse">
            <a:avLst/>
          </a:prstGeom>
          <a:solidFill>
            <a:srgbClr val="5EE7FF">
              <a:alpha val="40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9219895" y="5943600"/>
            <a:ext cx="54864" cy="54864"/>
          </a:xfrm>
          <a:prstGeom prst="ellipse">
            <a:avLst/>
          </a:prstGeom>
          <a:solidFill>
            <a:srgbClr val="5EE7FF">
              <a:alpha val="40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7985455" y="6309360"/>
            <a:ext cx="54864" cy="54864"/>
          </a:xfrm>
          <a:prstGeom prst="ellipse">
            <a:avLst/>
          </a:prstGeom>
          <a:solidFill>
            <a:srgbClr val="5EE7FF">
              <a:alpha val="40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8396935" y="6309360"/>
            <a:ext cx="54864" cy="54864"/>
          </a:xfrm>
          <a:prstGeom prst="ellipse">
            <a:avLst/>
          </a:prstGeom>
          <a:solidFill>
            <a:srgbClr val="5EE7FF">
              <a:alpha val="4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8808415" y="6309360"/>
            <a:ext cx="54864" cy="54864"/>
          </a:xfrm>
          <a:prstGeom prst="ellipse">
            <a:avLst/>
          </a:prstGeom>
          <a:solidFill>
            <a:srgbClr val="5EE7FF">
              <a:alpha val="40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9219895" y="6309360"/>
            <a:ext cx="54864" cy="54864"/>
          </a:xfrm>
          <a:prstGeom prst="ellipse">
            <a:avLst/>
          </a:prstGeom>
          <a:solidFill>
            <a:srgbClr val="5EE7FF">
              <a:alpha val="40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822960" y="914400"/>
            <a:ext cx="329184" cy="329184"/>
          </a:xfrm>
          <a:prstGeom prst="ellipse">
            <a:avLst/>
          </a:prstGeom>
          <a:solidFill>
            <a:srgbClr val="4F6BFF"/>
          </a:solidFill>
          <a:ln/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1234440" y="8686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100" kern="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Everstage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822960" y="24688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800" kern="0" dirty="0">
                <a:solidFill>
                  <a:srgbClr val="5E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 ENGINEERING  ASSESSMENT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22960" y="2880360"/>
            <a:ext cx="1005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Juice Shop QA Automation</a:t>
            </a:r>
            <a:endParaRPr lang="en-US" sz="6400" dirty="0"/>
          </a:p>
        </p:txBody>
      </p:sp>
      <p:sp>
        <p:nvSpPr>
          <p:cNvPr id="30" name="Text 28"/>
          <p:cNvSpPr/>
          <p:nvPr/>
        </p:nvSpPr>
        <p:spPr>
          <a:xfrm>
            <a:off x="822960" y="42519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test suite  ·  Playwright + TypeScript</a:t>
            </a:r>
            <a:endParaRPr lang="en-US" sz="2200" dirty="0"/>
          </a:p>
        </p:txBody>
      </p:sp>
      <p:sp>
        <p:nvSpPr>
          <p:cNvPr id="31" name="Shape 29"/>
          <p:cNvSpPr/>
          <p:nvPr/>
        </p:nvSpPr>
        <p:spPr>
          <a:xfrm>
            <a:off x="822960" y="5212080"/>
            <a:ext cx="4572000" cy="45720"/>
          </a:xfrm>
          <a:prstGeom prst="rect">
            <a:avLst/>
          </a:prstGeom>
          <a:solidFill>
            <a:srgbClr val="4F6BFF"/>
          </a:solidFill>
          <a:ln/>
        </p:spPr>
      </p:sp>
      <p:sp>
        <p:nvSpPr>
          <p:cNvPr id="32" name="Text 30"/>
          <p:cNvSpPr/>
          <p:nvPr/>
        </p:nvSpPr>
        <p:spPr>
          <a:xfrm>
            <a:off x="822960" y="53492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Submitted by  Ashik Mohamed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822960" y="57150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 submission deck  ·  ~25 minutes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F6B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6304"/>
            <a:ext cx="12191695" cy="36576"/>
          </a:xfrm>
          <a:prstGeom prst="rect">
            <a:avLst/>
          </a:prstGeom>
          <a:solidFill>
            <a:srgbClr val="5EE7FF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411480"/>
            <a:ext cx="164592" cy="164592"/>
          </a:xfrm>
          <a:prstGeom prst="ellipse">
            <a:avLst/>
          </a:prstGeom>
          <a:solidFill>
            <a:srgbClr val="4F6BFF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3840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Everstage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094415" y="38404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20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960120"/>
            <a:ext cx="457200" cy="54864"/>
          </a:xfrm>
          <a:prstGeom prst="rect">
            <a:avLst/>
          </a:prstGeom>
          <a:solidFill>
            <a:srgbClr val="4F6BF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86868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5E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12344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we'll cover</a:t>
            </a:r>
            <a:endParaRPr lang="en-US" sz="3800" dirty="0"/>
          </a:p>
        </p:txBody>
      </p:sp>
      <p:sp>
        <p:nvSpPr>
          <p:cNvPr id="10" name="Shape 8"/>
          <p:cNvSpPr/>
          <p:nvPr/>
        </p:nvSpPr>
        <p:spPr>
          <a:xfrm>
            <a:off x="548640" y="2606040"/>
            <a:ext cx="5486400" cy="640080"/>
          </a:xfrm>
          <a:prstGeom prst="rect">
            <a:avLst/>
          </a:prstGeom>
          <a:solidFill>
            <a:srgbClr val="111E40"/>
          </a:solidFill>
          <a:ln/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48640" y="2606040"/>
            <a:ext cx="54864" cy="640080"/>
          </a:xfrm>
          <a:prstGeom prst="rect">
            <a:avLst/>
          </a:prstGeom>
          <a:solidFill>
            <a:srgbClr val="4F6BFF"/>
          </a:solidFill>
          <a:ln/>
        </p:spPr>
      </p:sp>
      <p:sp>
        <p:nvSpPr>
          <p:cNvPr id="12" name="Shape 10"/>
          <p:cNvSpPr/>
          <p:nvPr/>
        </p:nvSpPr>
        <p:spPr>
          <a:xfrm>
            <a:off x="749808" y="2752344"/>
            <a:ext cx="365760" cy="365760"/>
          </a:xfrm>
          <a:prstGeom prst="ellipse">
            <a:avLst/>
          </a:prstGeom>
          <a:solidFill>
            <a:srgbClr val="4F6BFF"/>
          </a:solidFill>
          <a:ln/>
        </p:spPr>
      </p:sp>
      <p:sp>
        <p:nvSpPr>
          <p:cNvPr id="13" name="Text 11"/>
          <p:cNvSpPr/>
          <p:nvPr/>
        </p:nvSpPr>
        <p:spPr>
          <a:xfrm>
            <a:off x="749808" y="27523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280160" y="260604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brief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48640" y="3319272"/>
            <a:ext cx="5486400" cy="640080"/>
          </a:xfrm>
          <a:prstGeom prst="rect">
            <a:avLst/>
          </a:prstGeom>
          <a:solidFill>
            <a:srgbClr val="111E40"/>
          </a:solidFill>
          <a:ln/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48640" y="3319272"/>
            <a:ext cx="54864" cy="640080"/>
          </a:xfrm>
          <a:prstGeom prst="rect">
            <a:avLst/>
          </a:prstGeom>
          <a:solidFill>
            <a:srgbClr val="4F6BFF"/>
          </a:solidFill>
          <a:ln/>
        </p:spPr>
      </p:sp>
      <p:sp>
        <p:nvSpPr>
          <p:cNvPr id="17" name="Shape 15"/>
          <p:cNvSpPr/>
          <p:nvPr/>
        </p:nvSpPr>
        <p:spPr>
          <a:xfrm>
            <a:off x="749808" y="3465576"/>
            <a:ext cx="365760" cy="365760"/>
          </a:xfrm>
          <a:prstGeom prst="ellipse">
            <a:avLst/>
          </a:prstGeom>
          <a:solidFill>
            <a:srgbClr val="4F6BFF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" y="34655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280160" y="3319272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48640" y="4032504"/>
            <a:ext cx="5486400" cy="640080"/>
          </a:xfrm>
          <a:prstGeom prst="rect">
            <a:avLst/>
          </a:prstGeom>
          <a:solidFill>
            <a:srgbClr val="111E40"/>
          </a:solidFill>
          <a:ln/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48640" y="4032504"/>
            <a:ext cx="54864" cy="640080"/>
          </a:xfrm>
          <a:prstGeom prst="rect">
            <a:avLst/>
          </a:prstGeom>
          <a:solidFill>
            <a:srgbClr val="4F6BFF"/>
          </a:solidFill>
          <a:ln/>
        </p:spPr>
      </p:sp>
      <p:sp>
        <p:nvSpPr>
          <p:cNvPr id="22" name="Shape 20"/>
          <p:cNvSpPr/>
          <p:nvPr/>
        </p:nvSpPr>
        <p:spPr>
          <a:xfrm>
            <a:off x="749808" y="4178808"/>
            <a:ext cx="365760" cy="365760"/>
          </a:xfrm>
          <a:prstGeom prst="ellipse">
            <a:avLst/>
          </a:prstGeom>
          <a:solidFill>
            <a:srgbClr val="4F6BFF"/>
          </a:solidFill>
          <a:ln/>
        </p:spPr>
      </p:sp>
      <p:sp>
        <p:nvSpPr>
          <p:cNvPr id="23" name="Text 21"/>
          <p:cNvSpPr/>
          <p:nvPr/>
        </p:nvSpPr>
        <p:spPr>
          <a:xfrm>
            <a:off x="749808" y="41788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280160" y="4032504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548640" y="4745736"/>
            <a:ext cx="5486400" cy="640080"/>
          </a:xfrm>
          <a:prstGeom prst="rect">
            <a:avLst/>
          </a:prstGeom>
          <a:solidFill>
            <a:srgbClr val="111E40"/>
          </a:solidFill>
          <a:ln/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48640" y="4745736"/>
            <a:ext cx="54864" cy="640080"/>
          </a:xfrm>
          <a:prstGeom prst="rect">
            <a:avLst/>
          </a:prstGeom>
          <a:solidFill>
            <a:srgbClr val="4F6BFF"/>
          </a:solidFill>
          <a:ln/>
        </p:spPr>
      </p:sp>
      <p:sp>
        <p:nvSpPr>
          <p:cNvPr id="27" name="Shape 25"/>
          <p:cNvSpPr/>
          <p:nvPr/>
        </p:nvSpPr>
        <p:spPr>
          <a:xfrm>
            <a:off x="749808" y="4892040"/>
            <a:ext cx="365760" cy="365760"/>
          </a:xfrm>
          <a:prstGeom prst="ellipse">
            <a:avLst/>
          </a:prstGeom>
          <a:solidFill>
            <a:srgbClr val="4F6BFF"/>
          </a:solidFill>
          <a:ln/>
        </p:spPr>
      </p:sp>
      <p:sp>
        <p:nvSpPr>
          <p:cNvPr id="28" name="Text 26"/>
          <p:cNvSpPr/>
          <p:nvPr/>
        </p:nvSpPr>
        <p:spPr>
          <a:xfrm>
            <a:off x="749808" y="4892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280160" y="4745736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1 — beforeEach login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548640" y="5458968"/>
            <a:ext cx="5486400" cy="640080"/>
          </a:xfrm>
          <a:prstGeom prst="rect">
            <a:avLst/>
          </a:prstGeom>
          <a:solidFill>
            <a:srgbClr val="111E40"/>
          </a:solidFill>
          <a:ln/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548640" y="5458968"/>
            <a:ext cx="54864" cy="640080"/>
          </a:xfrm>
          <a:prstGeom prst="rect">
            <a:avLst/>
          </a:prstGeom>
          <a:solidFill>
            <a:srgbClr val="4F6BFF"/>
          </a:solidFill>
          <a:ln/>
        </p:spPr>
      </p:sp>
      <p:sp>
        <p:nvSpPr>
          <p:cNvPr id="32" name="Shape 30"/>
          <p:cNvSpPr/>
          <p:nvPr/>
        </p:nvSpPr>
        <p:spPr>
          <a:xfrm>
            <a:off x="749808" y="5605272"/>
            <a:ext cx="365760" cy="365760"/>
          </a:xfrm>
          <a:prstGeom prst="ellipse">
            <a:avLst/>
          </a:prstGeom>
          <a:solidFill>
            <a:srgbClr val="4F6BFF"/>
          </a:solidFill>
          <a:ln/>
        </p:spPr>
      </p:sp>
      <p:sp>
        <p:nvSpPr>
          <p:cNvPr id="33" name="Text 31"/>
          <p:cNvSpPr/>
          <p:nvPr/>
        </p:nvSpPr>
        <p:spPr>
          <a:xfrm>
            <a:off x="749808" y="56052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1280160" y="5458968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2 — UI add card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00800" y="2606040"/>
            <a:ext cx="5486400" cy="640080"/>
          </a:xfrm>
          <a:prstGeom prst="rect">
            <a:avLst/>
          </a:prstGeom>
          <a:solidFill>
            <a:srgbClr val="111E40"/>
          </a:solidFill>
          <a:ln/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6400800" y="2606040"/>
            <a:ext cx="54864" cy="640080"/>
          </a:xfrm>
          <a:prstGeom prst="rect">
            <a:avLst/>
          </a:prstGeom>
          <a:solidFill>
            <a:srgbClr val="4F6BFF"/>
          </a:solidFill>
          <a:ln/>
        </p:spPr>
      </p:sp>
      <p:sp>
        <p:nvSpPr>
          <p:cNvPr id="37" name="Shape 35"/>
          <p:cNvSpPr/>
          <p:nvPr/>
        </p:nvSpPr>
        <p:spPr>
          <a:xfrm>
            <a:off x="6601968" y="2752344"/>
            <a:ext cx="365760" cy="365760"/>
          </a:xfrm>
          <a:prstGeom prst="ellipse">
            <a:avLst/>
          </a:prstGeom>
          <a:solidFill>
            <a:srgbClr val="4F6BFF"/>
          </a:solidFill>
          <a:ln/>
        </p:spPr>
      </p:sp>
      <p:sp>
        <p:nvSpPr>
          <p:cNvPr id="38" name="Text 36"/>
          <p:cNvSpPr/>
          <p:nvPr/>
        </p:nvSpPr>
        <p:spPr>
          <a:xfrm>
            <a:off x="6601968" y="27523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7132320" y="260604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3 — API unique card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400800" y="3319272"/>
            <a:ext cx="5486400" cy="640080"/>
          </a:xfrm>
          <a:prstGeom prst="rect">
            <a:avLst/>
          </a:prstGeom>
          <a:solidFill>
            <a:srgbClr val="111E40"/>
          </a:solidFill>
          <a:ln/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400800" y="3319272"/>
            <a:ext cx="54864" cy="640080"/>
          </a:xfrm>
          <a:prstGeom prst="rect">
            <a:avLst/>
          </a:prstGeom>
          <a:solidFill>
            <a:srgbClr val="4F6BFF"/>
          </a:solidFill>
          <a:ln/>
        </p:spPr>
      </p:sp>
      <p:sp>
        <p:nvSpPr>
          <p:cNvPr id="42" name="Shape 40"/>
          <p:cNvSpPr/>
          <p:nvPr/>
        </p:nvSpPr>
        <p:spPr>
          <a:xfrm>
            <a:off x="6601968" y="3465576"/>
            <a:ext cx="365760" cy="365760"/>
          </a:xfrm>
          <a:prstGeom prst="ellipse">
            <a:avLst/>
          </a:prstGeom>
          <a:solidFill>
            <a:srgbClr val="4F6BFF"/>
          </a:solidFill>
          <a:ln/>
        </p:spPr>
      </p:sp>
      <p:sp>
        <p:nvSpPr>
          <p:cNvPr id="43" name="Text 41"/>
          <p:cNvSpPr/>
          <p:nvPr/>
        </p:nvSpPr>
        <p:spPr>
          <a:xfrm>
            <a:off x="6601968" y="34655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7132320" y="3319272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· run + HTML report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6400800" y="4032504"/>
            <a:ext cx="5486400" cy="640080"/>
          </a:xfrm>
          <a:prstGeom prst="rect">
            <a:avLst/>
          </a:prstGeom>
          <a:solidFill>
            <a:srgbClr val="111E40"/>
          </a:solidFill>
          <a:ln/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6400800" y="4032504"/>
            <a:ext cx="54864" cy="640080"/>
          </a:xfrm>
          <a:prstGeom prst="rect">
            <a:avLst/>
          </a:prstGeom>
          <a:solidFill>
            <a:srgbClr val="4F6BFF"/>
          </a:solidFill>
          <a:ln/>
        </p:spPr>
      </p:sp>
      <p:sp>
        <p:nvSpPr>
          <p:cNvPr id="47" name="Shape 45"/>
          <p:cNvSpPr/>
          <p:nvPr/>
        </p:nvSpPr>
        <p:spPr>
          <a:xfrm>
            <a:off x="6601968" y="4178808"/>
            <a:ext cx="365760" cy="365760"/>
          </a:xfrm>
          <a:prstGeom prst="ellipse">
            <a:avLst/>
          </a:prstGeom>
          <a:solidFill>
            <a:srgbClr val="4F6BFF"/>
          </a:solidFill>
          <a:ln/>
        </p:spPr>
      </p:sp>
      <p:sp>
        <p:nvSpPr>
          <p:cNvPr id="48" name="Text 46"/>
          <p:cNvSpPr/>
          <p:nvPr/>
        </p:nvSpPr>
        <p:spPr>
          <a:xfrm>
            <a:off x="6601968" y="41788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7132320" y="4032504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Locator strategy · beyond brief</a:t>
            </a:r>
            <a:endParaRPr lang="en-US" sz="1600" dirty="0"/>
          </a:p>
        </p:txBody>
      </p:sp>
      <p:sp>
        <p:nvSpPr>
          <p:cNvPr id="50" name="Shape 48"/>
          <p:cNvSpPr/>
          <p:nvPr/>
        </p:nvSpPr>
        <p:spPr>
          <a:xfrm>
            <a:off x="6400800" y="4745736"/>
            <a:ext cx="5486400" cy="640080"/>
          </a:xfrm>
          <a:prstGeom prst="rect">
            <a:avLst/>
          </a:prstGeom>
          <a:solidFill>
            <a:srgbClr val="111E40"/>
          </a:solidFill>
          <a:ln/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6400800" y="4745736"/>
            <a:ext cx="54864" cy="640080"/>
          </a:xfrm>
          <a:prstGeom prst="rect">
            <a:avLst/>
          </a:prstGeom>
          <a:solidFill>
            <a:srgbClr val="4F6BFF"/>
          </a:solidFill>
          <a:ln/>
        </p:spPr>
      </p:sp>
      <p:sp>
        <p:nvSpPr>
          <p:cNvPr id="52" name="Shape 50"/>
          <p:cNvSpPr/>
          <p:nvPr/>
        </p:nvSpPr>
        <p:spPr>
          <a:xfrm>
            <a:off x="6601968" y="4892040"/>
            <a:ext cx="365760" cy="365760"/>
          </a:xfrm>
          <a:prstGeom prst="ellipse">
            <a:avLst/>
          </a:prstGeom>
          <a:solidFill>
            <a:srgbClr val="4F6BFF"/>
          </a:solidFill>
          <a:ln/>
        </p:spPr>
      </p:sp>
      <p:sp>
        <p:nvSpPr>
          <p:cNvPr id="53" name="Text 51"/>
          <p:cNvSpPr/>
          <p:nvPr/>
        </p:nvSpPr>
        <p:spPr>
          <a:xfrm>
            <a:off x="6601968" y="4892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7132320" y="4745736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 · CI · Reporting</a:t>
            </a:r>
            <a:endParaRPr lang="en-US" sz="1600" dirty="0"/>
          </a:p>
        </p:txBody>
      </p:sp>
      <p:sp>
        <p:nvSpPr>
          <p:cNvPr id="55" name="Shape 53"/>
          <p:cNvSpPr/>
          <p:nvPr/>
        </p:nvSpPr>
        <p:spPr>
          <a:xfrm>
            <a:off x="6400800" y="5458968"/>
            <a:ext cx="5486400" cy="640080"/>
          </a:xfrm>
          <a:prstGeom prst="rect">
            <a:avLst/>
          </a:prstGeom>
          <a:solidFill>
            <a:srgbClr val="111E40"/>
          </a:solidFill>
          <a:ln/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6400800" y="5458968"/>
            <a:ext cx="54864" cy="640080"/>
          </a:xfrm>
          <a:prstGeom prst="rect">
            <a:avLst/>
          </a:prstGeom>
          <a:solidFill>
            <a:srgbClr val="4F6BFF"/>
          </a:solidFill>
          <a:ln/>
        </p:spPr>
      </p:sp>
      <p:sp>
        <p:nvSpPr>
          <p:cNvPr id="57" name="Shape 55"/>
          <p:cNvSpPr/>
          <p:nvPr/>
        </p:nvSpPr>
        <p:spPr>
          <a:xfrm>
            <a:off x="6601968" y="5605272"/>
            <a:ext cx="365760" cy="365760"/>
          </a:xfrm>
          <a:prstGeom prst="ellipse">
            <a:avLst/>
          </a:prstGeom>
          <a:solidFill>
            <a:srgbClr val="4F6BFF"/>
          </a:solidFill>
          <a:ln/>
        </p:spPr>
      </p:sp>
      <p:sp>
        <p:nvSpPr>
          <p:cNvPr id="58" name="Text 56"/>
          <p:cNvSpPr/>
          <p:nvPr/>
        </p:nvSpPr>
        <p:spPr>
          <a:xfrm>
            <a:off x="6601968" y="56052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7132320" y="5458968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&amp; A — feedback time</a:t>
            </a:r>
            <a:endParaRPr lang="en-US" sz="1600" dirty="0"/>
          </a:p>
        </p:txBody>
      </p:sp>
      <p:sp>
        <p:nvSpPr>
          <p:cNvPr id="60" name="Shape 58"/>
          <p:cNvSpPr/>
          <p:nvPr/>
        </p:nvSpPr>
        <p:spPr>
          <a:xfrm>
            <a:off x="548640" y="6446520"/>
            <a:ext cx="11094415" cy="0"/>
          </a:xfrm>
          <a:prstGeom prst="line">
            <a:avLst/>
          </a:prstGeom>
          <a:noFill/>
          <a:ln w="9525">
            <a:solidFill>
              <a:srgbClr val="1F2D5C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48640" y="6492240"/>
            <a:ext cx="7619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2  ·  Agenda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4572000" y="6492240"/>
            <a:ext cx="7071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EVERSTAGE QA ASSESSMENT  ·  ASHIK MOHAMED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F6B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6304"/>
            <a:ext cx="12191695" cy="36576"/>
          </a:xfrm>
          <a:prstGeom prst="rect">
            <a:avLst/>
          </a:prstGeom>
          <a:solidFill>
            <a:srgbClr val="5EE7FF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411480"/>
            <a:ext cx="164592" cy="164592"/>
          </a:xfrm>
          <a:prstGeom prst="ellipse">
            <a:avLst/>
          </a:prstGeom>
          <a:solidFill>
            <a:srgbClr val="4F6BFF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3840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Everstage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094415" y="38404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20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960120"/>
            <a:ext cx="457200" cy="54864"/>
          </a:xfrm>
          <a:prstGeom prst="rect">
            <a:avLst/>
          </a:prstGeom>
          <a:solidFill>
            <a:srgbClr val="4F6BF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86868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5E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12344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brief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548640" y="2121408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required tasks against OWASP Juice Shop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2743200"/>
            <a:ext cx="11094415" cy="1051560"/>
          </a:xfrm>
          <a:prstGeom prst="rect">
            <a:avLst/>
          </a:prstGeom>
          <a:solidFill>
            <a:srgbClr val="111E40"/>
          </a:solidFill>
          <a:ln/>
          <a:effectLst>
            <a:outerShdw sx="100000" sy="100000" kx="0" ky="0" algn="bl" rotWithShape="0" blurRad="152400" dist="38100" dir="5400000">
              <a:srgbClr val="000000">
                <a:alpha val="4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48640" y="2743200"/>
            <a:ext cx="54864" cy="1051560"/>
          </a:xfrm>
          <a:prstGeom prst="rect">
            <a:avLst/>
          </a:prstGeom>
          <a:solidFill>
            <a:srgbClr val="4F6BFF"/>
          </a:solidFill>
          <a:ln/>
        </p:spPr>
      </p:sp>
      <p:sp>
        <p:nvSpPr>
          <p:cNvPr id="13" name="Shape 11"/>
          <p:cNvSpPr/>
          <p:nvPr/>
        </p:nvSpPr>
        <p:spPr>
          <a:xfrm>
            <a:off x="777240" y="2862072"/>
            <a:ext cx="822960" cy="822960"/>
          </a:xfrm>
          <a:prstGeom prst="ellipse">
            <a:avLst/>
          </a:prstGeom>
          <a:solidFill>
            <a:srgbClr val="4F6BFF"/>
          </a:solidFill>
          <a:ln/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77240" y="286207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1828800" y="28803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script in `beforeEach`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828800" y="333756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Manually create a user, save credentials to new-user.json, run a login script before every test.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4023360"/>
            <a:ext cx="11094415" cy="1051560"/>
          </a:xfrm>
          <a:prstGeom prst="rect">
            <a:avLst/>
          </a:prstGeom>
          <a:solidFill>
            <a:srgbClr val="111E40"/>
          </a:solidFill>
          <a:ln/>
          <a:effectLst>
            <a:outerShdw sx="100000" sy="100000" kx="0" ky="0" algn="bl" rotWithShape="0" blurRad="152400" dist="38100" dir="5400000">
              <a:srgbClr val="000000">
                <a:alpha val="4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48640" y="4023360"/>
            <a:ext cx="54864" cy="1051560"/>
          </a:xfrm>
          <a:prstGeom prst="rect">
            <a:avLst/>
          </a:prstGeom>
          <a:solidFill>
            <a:srgbClr val="4F6BFF"/>
          </a:solidFill>
          <a:ln/>
        </p:spPr>
      </p:sp>
      <p:sp>
        <p:nvSpPr>
          <p:cNvPr id="19" name="Shape 17"/>
          <p:cNvSpPr/>
          <p:nvPr/>
        </p:nvSpPr>
        <p:spPr>
          <a:xfrm>
            <a:off x="777240" y="4142232"/>
            <a:ext cx="822960" cy="822960"/>
          </a:xfrm>
          <a:prstGeom prst="ellipse">
            <a:avLst/>
          </a:prstGeom>
          <a:solidFill>
            <a:srgbClr val="4F6BFF"/>
          </a:solidFill>
          <a:ln/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77240" y="414223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1828800" y="416052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test — add card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828800" y="46177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 from the home screen to My Payments and add card details.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48640" y="5303520"/>
            <a:ext cx="11094415" cy="1051560"/>
          </a:xfrm>
          <a:prstGeom prst="rect">
            <a:avLst/>
          </a:prstGeom>
          <a:solidFill>
            <a:srgbClr val="111E40"/>
          </a:solidFill>
          <a:ln/>
          <a:effectLst>
            <a:outerShdw sx="100000" sy="100000" kx="0" ky="0" algn="bl" rotWithShape="0" blurRad="152400" dist="38100" dir="5400000">
              <a:srgbClr val="000000">
                <a:alpha val="4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48640" y="5303520"/>
            <a:ext cx="54864" cy="1051560"/>
          </a:xfrm>
          <a:prstGeom prst="rect">
            <a:avLst/>
          </a:prstGeom>
          <a:solidFill>
            <a:srgbClr val="4F6BFF"/>
          </a:solidFill>
          <a:ln/>
        </p:spPr>
      </p:sp>
      <p:sp>
        <p:nvSpPr>
          <p:cNvPr id="25" name="Shape 23"/>
          <p:cNvSpPr/>
          <p:nvPr/>
        </p:nvSpPr>
        <p:spPr>
          <a:xfrm>
            <a:off x="777240" y="5422392"/>
            <a:ext cx="822960" cy="822960"/>
          </a:xfrm>
          <a:prstGeom prst="ellipse">
            <a:avLst/>
          </a:prstGeom>
          <a:solidFill>
            <a:srgbClr val="4F6BFF"/>
          </a:solidFill>
          <a:ln/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777240" y="542239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200" dirty="0"/>
          </a:p>
        </p:txBody>
      </p:sp>
      <p:sp>
        <p:nvSpPr>
          <p:cNvPr id="27" name="Text 25"/>
          <p:cNvSpPr/>
          <p:nvPr/>
        </p:nvSpPr>
        <p:spPr>
          <a:xfrm>
            <a:off x="1828800" y="544068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test — unique card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1828800" y="589788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unique card via the REST API.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548640" y="6446520"/>
            <a:ext cx="11094415" cy="0"/>
          </a:xfrm>
          <a:prstGeom prst="line">
            <a:avLst/>
          </a:prstGeom>
          <a:noFill/>
          <a:ln w="9525">
            <a:solidFill>
              <a:srgbClr val="1F2D5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6492240"/>
            <a:ext cx="7619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3  ·  The brief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572000" y="6492240"/>
            <a:ext cx="7071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EVERSTAGE QA ASSESSMENT  ·  ASHIK MOHAMED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F6B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6304"/>
            <a:ext cx="12191695" cy="36576"/>
          </a:xfrm>
          <a:prstGeom prst="rect">
            <a:avLst/>
          </a:prstGeom>
          <a:solidFill>
            <a:srgbClr val="5EE7FF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411480"/>
            <a:ext cx="164592" cy="164592"/>
          </a:xfrm>
          <a:prstGeom prst="ellipse">
            <a:avLst/>
          </a:prstGeom>
          <a:solidFill>
            <a:srgbClr val="4F6BFF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3840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Everstage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094415" y="38404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20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960120"/>
            <a:ext cx="457200" cy="54864"/>
          </a:xfrm>
          <a:prstGeom prst="rect">
            <a:avLst/>
          </a:prstGeom>
          <a:solidFill>
            <a:srgbClr val="4F6BF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86868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5E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12344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548640" y="2121408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 scope + extras  ·  every test green on a fresh Juice Shop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2743200"/>
            <a:ext cx="5440680" cy="2606040"/>
          </a:xfrm>
          <a:prstGeom prst="rect">
            <a:avLst/>
          </a:prstGeom>
          <a:solidFill>
            <a:srgbClr val="111E40"/>
          </a:solidFill>
          <a:ln/>
          <a:effectLst>
            <a:outerShdw sx="100000" sy="100000" kx="0" ky="0" algn="bl" rotWithShape="0" blurRad="152400" dist="38100" dir="5400000">
              <a:srgbClr val="000000">
                <a:alpha val="4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48640" y="2743200"/>
            <a:ext cx="54864" cy="2606040"/>
          </a:xfrm>
          <a:prstGeom prst="rect">
            <a:avLst/>
          </a:prstGeom>
          <a:solidFill>
            <a:srgbClr val="5EE7FF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292608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5E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  SCOPE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77240" y="3246120"/>
            <a:ext cx="5120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</a:t>
            </a:r>
            <a:endParaRPr lang="en-US" sz="9000" dirty="0"/>
          </a:p>
        </p:txBody>
      </p:sp>
      <p:sp>
        <p:nvSpPr>
          <p:cNvPr id="15" name="Text 13"/>
          <p:cNvSpPr/>
          <p:nvPr/>
        </p:nvSpPr>
        <p:spPr>
          <a:xfrm>
            <a:off x="777240" y="45720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@everstage-qa  ·  what the brief asked for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77240" y="4828032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7D2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Task 1   beforeEach login        </a:t>
            </a:r>
            <a:pPr indent="0" marL="0">
              <a:buNone/>
            </a:pPr>
            <a:r>
              <a:rPr lang="en-US" sz="1050" b="1" dirty="0">
                <a:solidFill>
                  <a:srgbClr val="5E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7D2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Task 2   UI add card             </a:t>
            </a:r>
            <a:pPr indent="0" marL="0">
              <a:buNone/>
            </a:pPr>
            <a:r>
              <a:rPr lang="en-US" sz="1050" b="1" dirty="0">
                <a:solidFill>
                  <a:srgbClr val="5E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7D2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Task 3   API unique card         </a:t>
            </a:r>
            <a:pPr indent="0" marL="0">
              <a:buNone/>
            </a:pPr>
            <a:r>
              <a:rPr lang="en-US" sz="1050" b="1" dirty="0">
                <a:solidFill>
                  <a:srgbClr val="5E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172200" y="2743200"/>
            <a:ext cx="5440680" cy="2606040"/>
          </a:xfrm>
          <a:prstGeom prst="rect">
            <a:avLst/>
          </a:prstGeom>
          <a:solidFill>
            <a:srgbClr val="111E40"/>
          </a:solidFill>
          <a:ln/>
          <a:effectLst>
            <a:outerShdw sx="100000" sy="100000" kx="0" ky="0" algn="bl" rotWithShape="0" blurRad="152400" dist="38100" dir="5400000">
              <a:srgbClr val="000000">
                <a:alpha val="4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172200" y="2743200"/>
            <a:ext cx="54864" cy="2606040"/>
          </a:xfrm>
          <a:prstGeom prst="rect">
            <a:avLst/>
          </a:prstGeom>
          <a:solidFill>
            <a:srgbClr val="4F6BFF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0" y="292608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4F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  ·  BEYOND  THE  BRIEF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00800" y="3246120"/>
            <a:ext cx="5120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+139</a:t>
            </a:r>
            <a:endParaRPr lang="en-US" sz="9000" dirty="0"/>
          </a:p>
        </p:txBody>
      </p:sp>
      <p:sp>
        <p:nvSpPr>
          <p:cNvPr id="21" name="Text 19"/>
          <p:cNvSpPr/>
          <p:nvPr/>
        </p:nvSpPr>
        <p:spPr>
          <a:xfrm>
            <a:off x="6400800" y="45720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layered on top of the brief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00800" y="484632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Order-flow funnel · Senior-signal probes · Documented vulns · Boundary + load · Rich report · 4 CI pipelines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48640" y="5532120"/>
            <a:ext cx="11064240" cy="777240"/>
          </a:xfrm>
          <a:prstGeom prst="rect">
            <a:avLst/>
          </a:prstGeom>
          <a:solidFill>
            <a:srgbClr val="1A2853"/>
          </a:solidFill>
          <a:ln/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777240" y="56509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5E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77240" y="5824728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F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223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1783080" y="5916168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223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3108960" y="592531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5E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all green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7315200" y="57790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 run  ·  2 min 12 s  ·  zero failures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315200" y="603504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3 min serial · &lt; 60 s smoke gate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48640" y="6446520"/>
            <a:ext cx="11094415" cy="0"/>
          </a:xfrm>
          <a:prstGeom prst="line">
            <a:avLst/>
          </a:prstGeom>
          <a:noFill/>
          <a:ln w="9525">
            <a:solidFill>
              <a:srgbClr val="1F2D5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48640" y="6492240"/>
            <a:ext cx="7619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4  ·  Headline result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572000" y="6492240"/>
            <a:ext cx="7071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EVERSTAGE QA ASSESSMENT  ·  ASHIK MOHAMED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F6B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6304"/>
            <a:ext cx="12191695" cy="36576"/>
          </a:xfrm>
          <a:prstGeom prst="rect">
            <a:avLst/>
          </a:prstGeom>
          <a:solidFill>
            <a:srgbClr val="5EE7FF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411480"/>
            <a:ext cx="164592" cy="164592"/>
          </a:xfrm>
          <a:prstGeom prst="ellipse">
            <a:avLst/>
          </a:prstGeom>
          <a:solidFill>
            <a:srgbClr val="4F6BFF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3840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Everstage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094415" y="38404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20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960120"/>
            <a:ext cx="457200" cy="54864"/>
          </a:xfrm>
          <a:prstGeom prst="rect">
            <a:avLst/>
          </a:prstGeom>
          <a:solidFill>
            <a:srgbClr val="4F6BF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86868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5E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03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12344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in one picture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548640" y="2121408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layers, shared helpers, one test runner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0" y="2788920"/>
            <a:ext cx="3017520" cy="731520"/>
          </a:xfrm>
          <a:prstGeom prst="rect">
            <a:avLst/>
          </a:prstGeom>
          <a:solidFill>
            <a:srgbClr val="1A2853"/>
          </a:solidFill>
          <a:ln w="25400">
            <a:solidFill>
              <a:srgbClr val="4F6B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27889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223 tests · 24 modules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1097280" y="4023360"/>
            <a:ext cx="4754880" cy="960120"/>
          </a:xfrm>
          <a:prstGeom prst="rect">
            <a:avLst/>
          </a:prstGeom>
          <a:solidFill>
            <a:srgbClr val="111E40"/>
          </a:solidFill>
          <a:ln w="25400">
            <a:solidFill>
              <a:srgbClr val="5EE7FF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4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1097280" y="40690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Layer · 89 tests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097280" y="44348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Playwright drives a real browser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309360" y="4023360"/>
            <a:ext cx="4754880" cy="960120"/>
          </a:xfrm>
          <a:prstGeom prst="rect">
            <a:avLst/>
          </a:prstGeom>
          <a:solidFill>
            <a:srgbClr val="111E40"/>
          </a:solidFill>
          <a:ln w="25400">
            <a:solidFill>
              <a:srgbClr val="4F6BFF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4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309360" y="40690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Layer · 125 tests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309360" y="44348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Playwright + direct HTTP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080760" y="3520440"/>
            <a:ext cx="-2606040" cy="502920"/>
          </a:xfrm>
          <a:prstGeom prst="line">
            <a:avLst/>
          </a:prstGeom>
          <a:noFill/>
          <a:ln w="19050">
            <a:solidFill>
              <a:srgbClr val="1F2D5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80760" y="3520440"/>
            <a:ext cx="2606040" cy="502920"/>
          </a:xfrm>
          <a:prstGeom prst="line">
            <a:avLst/>
          </a:prstGeom>
          <a:noFill/>
          <a:ln w="19050">
            <a:solidFill>
              <a:srgbClr val="1F2D5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68680" y="5349240"/>
            <a:ext cx="1965960" cy="822960"/>
          </a:xfrm>
          <a:prstGeom prst="rect">
            <a:avLst/>
          </a:prstGeom>
          <a:solidFill>
            <a:srgbClr val="111E40"/>
          </a:solidFill>
          <a:ln/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68680" y="539496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E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868680" y="580644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Objects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063240" y="5349240"/>
            <a:ext cx="1965960" cy="822960"/>
          </a:xfrm>
          <a:prstGeom prst="rect">
            <a:avLst/>
          </a:prstGeom>
          <a:solidFill>
            <a:srgbClr val="111E40"/>
          </a:solidFill>
          <a:ln/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3063240" y="539496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E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3063240" y="580644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Helpers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257800" y="5349240"/>
            <a:ext cx="1965960" cy="822960"/>
          </a:xfrm>
          <a:prstGeom prst="rect">
            <a:avLst/>
          </a:prstGeom>
          <a:solidFill>
            <a:srgbClr val="111E40"/>
          </a:solidFill>
          <a:ln/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257800" y="539496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E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5257800" y="580644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Fixtures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7452360" y="5349240"/>
            <a:ext cx="1965960" cy="822960"/>
          </a:xfrm>
          <a:prstGeom prst="rect">
            <a:avLst/>
          </a:prstGeom>
          <a:solidFill>
            <a:srgbClr val="111E40"/>
          </a:solidFill>
          <a:ln/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7452360" y="539496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E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32" name="Text 30"/>
          <p:cNvSpPr/>
          <p:nvPr/>
        </p:nvSpPr>
        <p:spPr>
          <a:xfrm>
            <a:off x="7452360" y="580644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Reporters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9646920" y="5349240"/>
            <a:ext cx="1965960" cy="822960"/>
          </a:xfrm>
          <a:prstGeom prst="rect">
            <a:avLst/>
          </a:prstGeom>
          <a:solidFill>
            <a:srgbClr val="111E40"/>
          </a:solidFill>
          <a:ln/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9646920" y="539496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E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400" dirty="0"/>
          </a:p>
        </p:txBody>
      </p:sp>
      <p:sp>
        <p:nvSpPr>
          <p:cNvPr id="35" name="Text 33"/>
          <p:cNvSpPr/>
          <p:nvPr/>
        </p:nvSpPr>
        <p:spPr>
          <a:xfrm>
            <a:off x="9646920" y="580644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Pipelines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48640" y="6446520"/>
            <a:ext cx="11094415" cy="0"/>
          </a:xfrm>
          <a:prstGeom prst="line">
            <a:avLst/>
          </a:prstGeom>
          <a:noFill/>
          <a:ln w="9525">
            <a:solidFill>
              <a:srgbClr val="1F2D5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48640" y="6492240"/>
            <a:ext cx="7619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5  ·  Architecture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572000" y="6492240"/>
            <a:ext cx="7071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EVERSTAGE QA ASSESSMENT  ·  ASHIK MOHAMED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F6B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6304"/>
            <a:ext cx="12191695" cy="36576"/>
          </a:xfrm>
          <a:prstGeom prst="rect">
            <a:avLst/>
          </a:prstGeom>
          <a:solidFill>
            <a:srgbClr val="5EE7FF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411480"/>
            <a:ext cx="164592" cy="164592"/>
          </a:xfrm>
          <a:prstGeom prst="ellipse">
            <a:avLst/>
          </a:prstGeom>
          <a:solidFill>
            <a:srgbClr val="4F6BFF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3840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Everstage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094415" y="38404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20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960120"/>
            <a:ext cx="457200" cy="54864"/>
          </a:xfrm>
          <a:prstGeom prst="rect">
            <a:avLst/>
          </a:prstGeom>
          <a:solidFill>
            <a:srgbClr val="4F6BF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86868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5E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01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12344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script in beforeEach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548640" y="2121408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tests/helpers/login.ts  ·  16 specs reuse it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2542032"/>
            <a:ext cx="7772400" cy="329184"/>
          </a:xfrm>
          <a:prstGeom prst="roundRect">
            <a:avLst>
              <a:gd name="adj" fmla="val 13889"/>
            </a:avLst>
          </a:prstGeom>
          <a:solidFill>
            <a:srgbClr val="1A2853"/>
          </a:solidFill>
          <a:ln w="12700">
            <a:solidFill>
              <a:srgbClr val="4F6B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2542032"/>
            <a:ext cx="7680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A1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▶  RUN  </a:t>
            </a:r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npm run demo:task1</a:t>
            </a:r>
            <a:pPr indent="0" marL="0">
              <a:buNone/>
            </a:pPr>
            <a:r>
              <a:rPr lang="en-US" sz="1100" i="1" dirty="0">
                <a:solidFill>
                  <a:srgbClr val="5EE7FF"/>
                </a:solidFill>
              </a:rPr>
              <a:t>   → 15 specs green  ·  ~25 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2971800"/>
            <a:ext cx="7772400" cy="3429000"/>
          </a:xfrm>
          <a:prstGeom prst="rect">
            <a:avLst/>
          </a:prstGeom>
          <a:solidFill>
            <a:srgbClr val="061029"/>
          </a:solidFill>
          <a:ln w="12700">
            <a:solidFill>
              <a:srgbClr val="1A2853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4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48640" y="2971800"/>
            <a:ext cx="54864" cy="3429000"/>
          </a:xfrm>
          <a:prstGeom prst="rect">
            <a:avLst/>
          </a:prstGeom>
          <a:solidFill>
            <a:srgbClr val="4F6BFF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3154680"/>
            <a:ext cx="740664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tests/helpers/login.ts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async function loginBeforeEach(page, context) {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await suppressBanners(context);            // 1. kill 3 popups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login = new LoginPage(page);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await login.goto();                        // 2. navigate to /#/login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await login.attemptLogin(user.email, user.password);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await expect(page).not.toHaveURL(/login/); // 3. assert success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await expect(page.locator('#navbarAccount')).toBeVisible();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tests/ui/task1-login.spec.ts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test.beforeEach(async ({ page, context }) =&gt; {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await loginBeforeEach(page, context);  // ← the brief's literal ask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686800" y="29718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E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686800" y="3520440"/>
            <a:ext cx="146304" cy="146304"/>
          </a:xfrm>
          <a:prstGeom prst="ellipse">
            <a:avLst/>
          </a:prstGeom>
          <a:solidFill>
            <a:srgbClr val="4F6BFF"/>
          </a:solidFill>
          <a:ln/>
        </p:spPr>
      </p:sp>
      <p:sp>
        <p:nvSpPr>
          <p:cNvPr id="18" name="Text 16"/>
          <p:cNvSpPr/>
          <p:nvPr/>
        </p:nvSpPr>
        <p:spPr>
          <a:xfrm>
            <a:off x="8942832" y="342900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over env vars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942832" y="3721608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 said new-user.json verbatim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686800" y="4233672"/>
            <a:ext cx="146304" cy="146304"/>
          </a:xfrm>
          <a:prstGeom prst="ellipse">
            <a:avLst/>
          </a:prstGeom>
          <a:solidFill>
            <a:srgbClr val="4F6BFF"/>
          </a:solidFill>
          <a:ln/>
        </p:spPr>
      </p:sp>
      <p:sp>
        <p:nvSpPr>
          <p:cNvPr id="21" name="Text 19"/>
          <p:cNvSpPr/>
          <p:nvPr/>
        </p:nvSpPr>
        <p:spPr>
          <a:xfrm>
            <a:off x="8942832" y="414223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Pre-seed cookies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942832" y="443484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Beats click-to-dismiss banner races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8686800" y="4946904"/>
            <a:ext cx="146304" cy="146304"/>
          </a:xfrm>
          <a:prstGeom prst="ellipse">
            <a:avLst/>
          </a:prstGeom>
          <a:solidFill>
            <a:srgbClr val="4F6BFF"/>
          </a:solidFill>
          <a:ln/>
        </p:spPr>
      </p:sp>
      <p:sp>
        <p:nvSpPr>
          <p:cNvPr id="24" name="Text 22"/>
          <p:cNvSpPr/>
          <p:nvPr/>
        </p:nvSpPr>
        <p:spPr>
          <a:xfrm>
            <a:off x="8942832" y="4855464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Helper + beforeEach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8942832" y="5148072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 across 16 specs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8686800" y="5660136"/>
            <a:ext cx="146304" cy="146304"/>
          </a:xfrm>
          <a:prstGeom prst="ellipse">
            <a:avLst/>
          </a:prstGeom>
          <a:solidFill>
            <a:srgbClr val="4F6BFF"/>
          </a:solidFill>
          <a:ln/>
        </p:spPr>
      </p:sp>
      <p:sp>
        <p:nvSpPr>
          <p:cNvPr id="27" name="Text 25"/>
          <p:cNvSpPr/>
          <p:nvPr/>
        </p:nvSpPr>
        <p:spPr>
          <a:xfrm>
            <a:off x="8942832" y="5568696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assertions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8942832" y="5861304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+ navbar icon = real session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48640" y="6446520"/>
            <a:ext cx="11094415" cy="0"/>
          </a:xfrm>
          <a:prstGeom prst="line">
            <a:avLst/>
          </a:prstGeom>
          <a:noFill/>
          <a:ln w="9525">
            <a:solidFill>
              <a:srgbClr val="1F2D5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6492240"/>
            <a:ext cx="7619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6  ·  Task 1: beforeEach login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572000" y="6492240"/>
            <a:ext cx="7071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EVERSTAGE QA ASSESSMENT  ·  ASHIK MOHAMED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1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F6B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6304"/>
            <a:ext cx="12191695" cy="36576"/>
          </a:xfrm>
          <a:prstGeom prst="rect">
            <a:avLst/>
          </a:prstGeom>
          <a:solidFill>
            <a:srgbClr val="5EE7FF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411480"/>
            <a:ext cx="164592" cy="164592"/>
          </a:xfrm>
          <a:prstGeom prst="ellipse">
            <a:avLst/>
          </a:prstGeom>
          <a:solidFill>
            <a:srgbClr val="4F6BFF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3840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Everstage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094415" y="38404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20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960120"/>
            <a:ext cx="457200" cy="54864"/>
          </a:xfrm>
          <a:prstGeom prst="rect">
            <a:avLst/>
          </a:prstGeom>
          <a:solidFill>
            <a:srgbClr val="4F6BF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86868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5E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02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12344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add card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548640" y="2121408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tests/ui/task2-add-card.spec.ts  ·  23 tests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2542032"/>
            <a:ext cx="7772400" cy="329184"/>
          </a:xfrm>
          <a:prstGeom prst="roundRect">
            <a:avLst>
              <a:gd name="adj" fmla="val 13889"/>
            </a:avLst>
          </a:prstGeom>
          <a:solidFill>
            <a:srgbClr val="1A2853"/>
          </a:solidFill>
          <a:ln w="12700">
            <a:solidFill>
              <a:srgbClr val="5EE7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2542032"/>
            <a:ext cx="7680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A1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▶  RUN  </a:t>
            </a:r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npm run demo:task2</a:t>
            </a:r>
            <a:pPr indent="0" marL="0">
              <a:buNone/>
            </a:pPr>
            <a:r>
              <a:rPr lang="en-US" sz="1100" i="1" dirty="0">
                <a:solidFill>
                  <a:srgbClr val="5EE7FF"/>
                </a:solidFill>
              </a:rPr>
              <a:t>   → 23 specs green  ·  ~40 s  ·  headed mode shows the form fill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2971800"/>
            <a:ext cx="7772400" cy="3429000"/>
          </a:xfrm>
          <a:prstGeom prst="rect">
            <a:avLst/>
          </a:prstGeom>
          <a:solidFill>
            <a:srgbClr val="061029"/>
          </a:solidFill>
          <a:ln w="12700">
            <a:solidFill>
              <a:srgbClr val="1A2853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4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48640" y="2971800"/>
            <a:ext cx="54864" cy="3429000"/>
          </a:xfrm>
          <a:prstGeom prst="rect">
            <a:avLst/>
          </a:prstGeom>
          <a:solidFill>
            <a:srgbClr val="5EE7FF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3154680"/>
            <a:ext cx="740664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test('[TC-UI-001] User can add card details from My Payments',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{ tag: ['@task2', '@everstage-qa', '@positive', '@smoke'] },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async ({ page }) =&gt; {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paymentPage = new PaymentPage(page);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await paymentPage.openMyPayments();           // navigate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await paymentPage.addCard({                   // fill + submit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name: 'Everstage QA',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number: uniqueCardNumber(),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month: '5', year: '2080',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});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await expect(paymentPage.confirmation).toBeVisible();   // ✓ snackbar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await expect(page.locator('mat-cell',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{ hasText: card.number.slice(-4) })).toBeVisible();   // ✓ row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});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686800" y="29718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E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+ 22 more tests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686800" y="3383280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4F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823960" y="3602736"/>
            <a:ext cx="3063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7D2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empty form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8823960" y="3785616"/>
            <a:ext cx="3063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7D2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partial fill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8823960" y="3968496"/>
            <a:ext cx="3063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7D2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non-digit chars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8686800" y="4224528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4F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823960" y="4443984"/>
            <a:ext cx="3063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7D2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XSS in name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8823960" y="4626864"/>
            <a:ext cx="3063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7D2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SQLi in name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8823960" y="4809744"/>
            <a:ext cx="3063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7D2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PAN masking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686800" y="506577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4F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Boundary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8823960" y="5285232"/>
            <a:ext cx="3063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7D2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expiry 2080 / 2099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8823960" y="5468112"/>
            <a:ext cx="3063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7D2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200-char name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8686800" y="57241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4F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8823960" y="5943600"/>
            <a:ext cx="3063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7D2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cards rapid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8823960" y="6126480"/>
            <a:ext cx="3063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7D2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round-trip &lt; 15s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48640" y="6446520"/>
            <a:ext cx="11094415" cy="0"/>
          </a:xfrm>
          <a:prstGeom prst="line">
            <a:avLst/>
          </a:prstGeom>
          <a:noFill/>
          <a:ln w="9525">
            <a:solidFill>
              <a:srgbClr val="1F2D5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8640" y="6492240"/>
            <a:ext cx="7619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7  ·  Task 2: UI add card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572000" y="6492240"/>
            <a:ext cx="7071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EVERSTAGE QA ASSESSMENT  ·  ASHIK MOHAMED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1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F6B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6304"/>
            <a:ext cx="12191695" cy="36576"/>
          </a:xfrm>
          <a:prstGeom prst="rect">
            <a:avLst/>
          </a:prstGeom>
          <a:solidFill>
            <a:srgbClr val="5EE7FF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411480"/>
            <a:ext cx="164592" cy="164592"/>
          </a:xfrm>
          <a:prstGeom prst="ellipse">
            <a:avLst/>
          </a:prstGeom>
          <a:solidFill>
            <a:srgbClr val="4F6BFF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3840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Everstage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094415" y="38404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20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960120"/>
            <a:ext cx="457200" cy="54864"/>
          </a:xfrm>
          <a:prstGeom prst="rect">
            <a:avLst/>
          </a:prstGeom>
          <a:solidFill>
            <a:srgbClr val="4F6BF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86868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5E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03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12344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unique card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548640" y="2121408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tests/api/task3-add-card.spec.ts  ·  46 tests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2542032"/>
            <a:ext cx="7772400" cy="329184"/>
          </a:xfrm>
          <a:prstGeom prst="roundRect">
            <a:avLst>
              <a:gd name="adj" fmla="val 13889"/>
            </a:avLst>
          </a:prstGeom>
          <a:solidFill>
            <a:srgbClr val="1A2853"/>
          </a:solidFill>
          <a:ln w="12700">
            <a:solidFill>
              <a:srgbClr val="4F6B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2542032"/>
            <a:ext cx="7680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A1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▶  RUN  </a:t>
            </a:r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npm run demo:task3</a:t>
            </a:r>
            <a:pPr indent="0" marL="0">
              <a:buNone/>
            </a:pPr>
            <a:r>
              <a:rPr lang="en-US" sz="1100" i="1" dirty="0">
                <a:solidFill>
                  <a:srgbClr val="5EE7FF"/>
                </a:solidFill>
              </a:rPr>
              <a:t>   → 46 specs green  ·  ~50 s  ·  no browser, pure HTTP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2971800"/>
            <a:ext cx="7772400" cy="3429000"/>
          </a:xfrm>
          <a:prstGeom prst="rect">
            <a:avLst/>
          </a:prstGeom>
          <a:solidFill>
            <a:srgbClr val="061029"/>
          </a:solidFill>
          <a:ln w="12700">
            <a:solidFill>
              <a:srgbClr val="1A2853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4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48640" y="2971800"/>
            <a:ext cx="54864" cy="3429000"/>
          </a:xfrm>
          <a:prstGeom prst="rect">
            <a:avLst/>
          </a:prstGeom>
          <a:solidFill>
            <a:srgbClr val="4F6BFF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3154680"/>
            <a:ext cx="740664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tests/helpers/card.ts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function uniqueCardNumber(): string {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seed = Math.floor(Math.random() * 1e12)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.toString().padStart(12, '0');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`4111${seed}`;             // 10¹² possible values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tests/api/task3-add-card.spec.ts — headline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response = await request.post('/api/Cards/', {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headers: authHeaders(),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data: validCard(),                 // includes uniqueCardNumber()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expect(response.status()).toBe(201);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expect(body.data.cardNum)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.toContain(payload.cardNum.slice(-4));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686800" y="29718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E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+ 45 more tests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686800" y="3383280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4F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823960" y="3602736"/>
            <a:ext cx="3063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7D2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 POST / DELETE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8686800" y="3858768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4F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Boundary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823960" y="4078224"/>
            <a:ext cx="3063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7D2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expMonth 0 / 1 / 12 / 13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8823960" y="4261104"/>
            <a:ext cx="3063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7D2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expYear 2079..2100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686800" y="451713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4F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823960" y="4736592"/>
            <a:ext cx="3063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7D2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JWT tampering / no token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8823960" y="4919472"/>
            <a:ext cx="3063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7D2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IDOR cross-tenant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686800" y="517550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4F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8823960" y="5394960"/>
            <a:ext cx="3063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7D2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mass-assignment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8823960" y="5577840"/>
            <a:ext cx="3063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7D2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SQLi / XSS in fullName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8686800" y="583387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4F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8823960" y="6053328"/>
            <a:ext cx="3063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7D2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10x concurrent  ·  P95 &lt; 1500 ms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48640" y="6446520"/>
            <a:ext cx="11094415" cy="0"/>
          </a:xfrm>
          <a:prstGeom prst="line">
            <a:avLst/>
          </a:prstGeom>
          <a:noFill/>
          <a:ln w="9525">
            <a:solidFill>
              <a:srgbClr val="1F2D5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48640" y="6492240"/>
            <a:ext cx="7619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8  ·  Task 3: API unique card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572000" y="6492240"/>
            <a:ext cx="7071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EVERSTAGE QA ASSESSMENT  ·  ASHIK MOHAMED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1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F6B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6304"/>
            <a:ext cx="12191695" cy="36576"/>
          </a:xfrm>
          <a:prstGeom prst="rect">
            <a:avLst/>
          </a:prstGeom>
          <a:solidFill>
            <a:srgbClr val="5EE7FF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411480"/>
            <a:ext cx="164592" cy="164592"/>
          </a:xfrm>
          <a:prstGeom prst="ellipse">
            <a:avLst/>
          </a:prstGeom>
          <a:solidFill>
            <a:srgbClr val="4F6BFF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3840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Everstage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094415" y="38404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20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960120"/>
            <a:ext cx="457200" cy="54864"/>
          </a:xfrm>
          <a:prstGeom prst="rect">
            <a:avLst/>
          </a:prstGeom>
          <a:solidFill>
            <a:srgbClr val="4F6BF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86868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5E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 RUN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12344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 ·  one command, all three tasks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548640" y="2121408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 scripts → Playwright with trace → rich HTML report opens automatically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2743200"/>
            <a:ext cx="6583680" cy="3657600"/>
          </a:xfrm>
          <a:prstGeom prst="rect">
            <a:avLst/>
          </a:prstGeom>
          <a:solidFill>
            <a:srgbClr val="061029"/>
          </a:solidFill>
          <a:ln w="12700">
            <a:solidFill>
              <a:srgbClr val="1A2853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4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48640" y="2743200"/>
            <a:ext cx="54864" cy="3657600"/>
          </a:xfrm>
          <a:prstGeom prst="rect">
            <a:avLst/>
          </a:prstGeom>
          <a:solidFill>
            <a:srgbClr val="5EE7FF"/>
          </a:solidFill>
          <a:ln/>
        </p:spPr>
      </p:sp>
      <p:sp>
        <p:nvSpPr>
          <p:cNvPr id="13" name="Shape 11"/>
          <p:cNvSpPr/>
          <p:nvPr/>
        </p:nvSpPr>
        <p:spPr>
          <a:xfrm>
            <a:off x="777240" y="2926080"/>
            <a:ext cx="128016" cy="128016"/>
          </a:xfrm>
          <a:prstGeom prst="ellipse">
            <a:avLst/>
          </a:prstGeom>
          <a:solidFill>
            <a:srgbClr val="FF6B57"/>
          </a:solidFill>
          <a:ln/>
        </p:spPr>
      </p:sp>
      <p:sp>
        <p:nvSpPr>
          <p:cNvPr id="14" name="Shape 12"/>
          <p:cNvSpPr/>
          <p:nvPr/>
        </p:nvSpPr>
        <p:spPr>
          <a:xfrm>
            <a:off x="978408" y="2926080"/>
            <a:ext cx="128016" cy="12801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5" name="Shape 13"/>
          <p:cNvSpPr/>
          <p:nvPr/>
        </p:nvSpPr>
        <p:spPr>
          <a:xfrm>
            <a:off x="1179576" y="2926080"/>
            <a:ext cx="128016" cy="128016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16" name="Text 14"/>
          <p:cNvSpPr/>
          <p:nvPr/>
        </p:nvSpPr>
        <p:spPr>
          <a:xfrm>
            <a:off x="1463040" y="286207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~/EverStage   —   bash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22960" y="3246120"/>
            <a:ext cx="6217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E7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demo</a:t>
            </a:r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all 84 @everstage-qa specs + traces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22960" y="3703320"/>
            <a:ext cx="6217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E7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demo:task1</a:t>
            </a:r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Task 1  ·  beforeEach login (15)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22960" y="3995928"/>
            <a:ext cx="6217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E7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demo:task2</a:t>
            </a:r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Task 2  ·  UI add card (23)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2960" y="4288536"/>
            <a:ext cx="6217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E7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demo:task3</a:t>
            </a:r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Task 3  ·  API unique card (46)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22960" y="4745736"/>
            <a:ext cx="6217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E7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demo:smoke</a:t>
            </a:r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~9 s sanity gate (9 specs)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22960" y="5038344"/>
            <a:ext cx="6217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E7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demo:full</a:t>
            </a:r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all 223 + traces + report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22960" y="5495544"/>
            <a:ext cx="6217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reports/test-report.html</a:t>
            </a:r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 automatically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406640" y="27432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5E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 SCREEN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406640" y="301752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things to watch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7406640" y="3429000"/>
            <a:ext cx="4206240" cy="841248"/>
          </a:xfrm>
          <a:prstGeom prst="rect">
            <a:avLst/>
          </a:prstGeom>
          <a:solidFill>
            <a:srgbClr val="111E40"/>
          </a:solidFill>
          <a:ln/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7406640" y="3429000"/>
            <a:ext cx="54864" cy="841248"/>
          </a:xfrm>
          <a:prstGeom prst="rect">
            <a:avLst/>
          </a:prstGeom>
          <a:solidFill>
            <a:srgbClr val="4F6BFF"/>
          </a:solidFill>
          <a:ln/>
        </p:spPr>
      </p:sp>
      <p:sp>
        <p:nvSpPr>
          <p:cNvPr id="28" name="Shape 26"/>
          <p:cNvSpPr/>
          <p:nvPr/>
        </p:nvSpPr>
        <p:spPr>
          <a:xfrm>
            <a:off x="7589520" y="3675888"/>
            <a:ext cx="365760" cy="365760"/>
          </a:xfrm>
          <a:prstGeom prst="ellipse">
            <a:avLst/>
          </a:prstGeom>
          <a:solidFill>
            <a:srgbClr val="4F6BFF"/>
          </a:solidFill>
          <a:ln/>
        </p:spPr>
      </p:sp>
      <p:sp>
        <p:nvSpPr>
          <p:cNvPr id="29" name="Text 27"/>
          <p:cNvSpPr/>
          <p:nvPr/>
        </p:nvSpPr>
        <p:spPr>
          <a:xfrm>
            <a:off x="7589520" y="36758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092440" y="3520440"/>
            <a:ext cx="3429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console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8092440" y="3822192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spec name with green ✓ as it passes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406640" y="4407408"/>
            <a:ext cx="4206240" cy="841248"/>
          </a:xfrm>
          <a:prstGeom prst="rect">
            <a:avLst/>
          </a:prstGeom>
          <a:solidFill>
            <a:srgbClr val="111E40"/>
          </a:solidFill>
          <a:ln/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7406640" y="4407408"/>
            <a:ext cx="54864" cy="841248"/>
          </a:xfrm>
          <a:prstGeom prst="rect">
            <a:avLst/>
          </a:prstGeom>
          <a:solidFill>
            <a:srgbClr val="4F6BFF"/>
          </a:solidFill>
          <a:ln/>
        </p:spPr>
      </p:sp>
      <p:sp>
        <p:nvSpPr>
          <p:cNvPr id="34" name="Shape 32"/>
          <p:cNvSpPr/>
          <p:nvPr/>
        </p:nvSpPr>
        <p:spPr>
          <a:xfrm>
            <a:off x="7589520" y="4654296"/>
            <a:ext cx="365760" cy="365760"/>
          </a:xfrm>
          <a:prstGeom prst="ellipse">
            <a:avLst/>
          </a:prstGeom>
          <a:solidFill>
            <a:srgbClr val="4F6BFF"/>
          </a:solidFill>
          <a:ln/>
        </p:spPr>
      </p:sp>
      <p:sp>
        <p:nvSpPr>
          <p:cNvPr id="35" name="Text 33"/>
          <p:cNvSpPr/>
          <p:nvPr/>
        </p:nvSpPr>
        <p:spPr>
          <a:xfrm>
            <a:off x="7589520" y="4654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8092440" y="4498848"/>
            <a:ext cx="3429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recording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8092440" y="480060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· DOM · console captured per test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406640" y="5385816"/>
            <a:ext cx="4206240" cy="841248"/>
          </a:xfrm>
          <a:prstGeom prst="rect">
            <a:avLst/>
          </a:prstGeom>
          <a:solidFill>
            <a:srgbClr val="111E40"/>
          </a:solidFill>
          <a:ln/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7406640" y="5385816"/>
            <a:ext cx="54864" cy="841248"/>
          </a:xfrm>
          <a:prstGeom prst="rect">
            <a:avLst/>
          </a:prstGeom>
          <a:solidFill>
            <a:srgbClr val="4F6BFF"/>
          </a:solidFill>
          <a:ln/>
        </p:spPr>
      </p:sp>
      <p:sp>
        <p:nvSpPr>
          <p:cNvPr id="40" name="Shape 38"/>
          <p:cNvSpPr/>
          <p:nvPr/>
        </p:nvSpPr>
        <p:spPr>
          <a:xfrm>
            <a:off x="7589520" y="5632704"/>
            <a:ext cx="365760" cy="365760"/>
          </a:xfrm>
          <a:prstGeom prst="ellipse">
            <a:avLst/>
          </a:prstGeom>
          <a:solidFill>
            <a:srgbClr val="4F6BFF"/>
          </a:solidFill>
          <a:ln/>
        </p:spPr>
      </p:sp>
      <p:sp>
        <p:nvSpPr>
          <p:cNvPr id="41" name="Text 39"/>
          <p:cNvSpPr/>
          <p:nvPr/>
        </p:nvSpPr>
        <p:spPr>
          <a:xfrm>
            <a:off x="7589520" y="56327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8092440" y="5477256"/>
            <a:ext cx="3429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 HTML report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8092440" y="5779008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Auto-opens · search · per-test drawer · API panel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548640" y="6446520"/>
            <a:ext cx="11094415" cy="0"/>
          </a:xfrm>
          <a:prstGeom prst="line">
            <a:avLst/>
          </a:prstGeom>
          <a:noFill/>
          <a:ln w="9525">
            <a:solidFill>
              <a:srgbClr val="1F2D5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48640" y="6492240"/>
            <a:ext cx="7619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9  ·  Live demo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572000" y="6492240"/>
            <a:ext cx="7071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EVERSTAGE QA ASSESSMENT  ·  ASHIK MOHAMED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F6B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6304"/>
            <a:ext cx="12191695" cy="36576"/>
          </a:xfrm>
          <a:prstGeom prst="rect">
            <a:avLst/>
          </a:prstGeom>
          <a:solidFill>
            <a:srgbClr val="5EE7FF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411480"/>
            <a:ext cx="164592" cy="164592"/>
          </a:xfrm>
          <a:prstGeom prst="ellipse">
            <a:avLst/>
          </a:prstGeom>
          <a:solidFill>
            <a:srgbClr val="4F6BFF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3840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Everstage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094415" y="38404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960120"/>
            <a:ext cx="457200" cy="54864"/>
          </a:xfrm>
          <a:prstGeom prst="rect">
            <a:avLst/>
          </a:prstGeom>
          <a:solidFill>
            <a:srgbClr val="4F6BF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86868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5E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04  ·  THE BRIEF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12344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Locator strategy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548640" y="2121408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brief asks for clean, stable code  →  this is the rulebook I followed</a:t>
            </a:r>
            <a:endParaRPr lang="en-US" sz="1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697480"/>
          <a:ext cx="110642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286000"/>
                <a:gridCol w="5120640"/>
                <a:gridCol w="292608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8FA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85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8FA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85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8FAF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Example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85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8FA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Survives?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85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EE7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7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8FA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Stable IDs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7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C7D2F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page.locator('#submitButton')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7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4D3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Material upgrades  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73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EE7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7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8FA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ARIA role + name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7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C7D2F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getByRole('button', { name: 'Login' })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7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4D3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ARIA changes only  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73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EE7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7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8FA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ARIA label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7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C7D2F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getByLabel('Card Number', { exact: true })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7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4D3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Label text only  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73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59E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7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8FA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Tag + text/regex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7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C7D2F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locator('simple-snack-bar', { hasText: /saved/i })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7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59E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Wording changes  ⚠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73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7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FORBIDDEN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7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C7D2F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.mat-mdc-form-field-2 &gt; div:nth-child(3)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7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release  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733"/>
                    </a:solidFill>
                  </a:tcPr>
                </a:tc>
              </a:tr>
            </a:tbl>
          </a:graphicData>
        </a:graphic>
      </p:graphicFrame>
      <p:sp>
        <p:nvSpPr>
          <p:cNvPr id="12" name="Shape 9"/>
          <p:cNvSpPr/>
          <p:nvPr/>
        </p:nvSpPr>
        <p:spPr>
          <a:xfrm>
            <a:off x="548640" y="5897880"/>
            <a:ext cx="11064240" cy="457200"/>
          </a:xfrm>
          <a:prstGeom prst="rect">
            <a:avLst/>
          </a:prstGeom>
          <a:solidFill>
            <a:srgbClr val="1A2853"/>
          </a:solidFill>
          <a:ln/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548640" y="5897880"/>
            <a:ext cx="54864" cy="457200"/>
          </a:xfrm>
          <a:prstGeom prst="rect">
            <a:avLst/>
          </a:prstGeom>
          <a:solidFill>
            <a:srgbClr val="5EE7FF"/>
          </a:solidFill>
          <a:ln/>
        </p:spPr>
      </p:sp>
      <p:sp>
        <p:nvSpPr>
          <p:cNvPr id="14" name="Text 11"/>
          <p:cNvSpPr/>
          <p:nvPr/>
        </p:nvSpPr>
        <p:spPr>
          <a:xfrm>
            <a:off x="777240" y="59436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5E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TIED  TO  THE  BRIEF   →   </a:t>
            </a:r>
            <a:pPr indent="0" marL="0">
              <a:buNone/>
            </a:pPr>
            <a:r>
              <a:rPr lang="en-US" sz="11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“stable locators” = Tier 1-3 only · </a:t>
            </a:r>
            <a:pPr indent="0" marL="0">
              <a:buNone/>
            </a:pPr>
            <a:r>
              <a:rPr lang="en-US" sz="11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“clean code” = one POM per page · </a:t>
            </a:r>
            <a:pPr indent="0" marL="0">
              <a:buNone/>
            </a:pPr>
            <a:r>
              <a:rPr lang="en-US" sz="11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“ready to troubleshoot” = </a:t>
            </a:r>
            <a:pPr indent="0" marL="0">
              <a:buNone/>
            </a:pPr>
            <a:r>
              <a:rPr lang="en-US" sz="11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auto-generated CSS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48640" y="6446520"/>
            <a:ext cx="11094415" cy="0"/>
          </a:xfrm>
          <a:prstGeom prst="line">
            <a:avLst/>
          </a:prstGeom>
          <a:noFill/>
          <a:ln w="9525">
            <a:solidFill>
              <a:srgbClr val="1F2D5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48640" y="6492240"/>
            <a:ext cx="7619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10  ·  Locator strategy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0" y="6492240"/>
            <a:ext cx="7071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EVERSTAGE QA ASSESSMENT  ·  ASHIK MOHAMED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1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F6B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6304"/>
            <a:ext cx="12191695" cy="36576"/>
          </a:xfrm>
          <a:prstGeom prst="rect">
            <a:avLst/>
          </a:prstGeom>
          <a:solidFill>
            <a:srgbClr val="5EE7FF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411480"/>
            <a:ext cx="164592" cy="164592"/>
          </a:xfrm>
          <a:prstGeom prst="ellipse">
            <a:avLst/>
          </a:prstGeom>
          <a:solidFill>
            <a:srgbClr val="4F6BFF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3840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Everstage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094415" y="38404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960120"/>
            <a:ext cx="457200" cy="54864"/>
          </a:xfrm>
          <a:prstGeom prst="rect">
            <a:avLst/>
          </a:prstGeom>
          <a:solidFill>
            <a:srgbClr val="4F6BF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86868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5E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05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12344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the brief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548640" y="2121408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added on top of the three tasks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2743200"/>
            <a:ext cx="11064240" cy="640080"/>
          </a:xfrm>
          <a:prstGeom prst="rect">
            <a:avLst/>
          </a:prstGeom>
          <a:solidFill>
            <a:srgbClr val="111E40"/>
          </a:solidFill>
          <a:ln/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48640" y="2743200"/>
            <a:ext cx="54864" cy="640080"/>
          </a:xfrm>
          <a:prstGeom prst="rect">
            <a:avLst/>
          </a:prstGeom>
          <a:solidFill>
            <a:srgbClr val="4F6BFF"/>
          </a:solidFill>
          <a:ln/>
        </p:spPr>
      </p:sp>
      <p:sp>
        <p:nvSpPr>
          <p:cNvPr id="13" name="Shape 11"/>
          <p:cNvSpPr/>
          <p:nvPr/>
        </p:nvSpPr>
        <p:spPr>
          <a:xfrm>
            <a:off x="777240" y="2852928"/>
            <a:ext cx="420624" cy="420624"/>
          </a:xfrm>
          <a:prstGeom prst="ellipse">
            <a:avLst/>
          </a:prstGeom>
          <a:solidFill>
            <a:srgbClr val="4F6BFF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28529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371600" y="274320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657600" y="274320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fixtures · Logged API wrapper · Stockable-product helper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3520440"/>
            <a:ext cx="11064240" cy="640080"/>
          </a:xfrm>
          <a:prstGeom prst="rect">
            <a:avLst/>
          </a:prstGeom>
          <a:solidFill>
            <a:srgbClr val="111E40"/>
          </a:solidFill>
          <a:ln/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48640" y="3520440"/>
            <a:ext cx="54864" cy="640080"/>
          </a:xfrm>
          <a:prstGeom prst="rect">
            <a:avLst/>
          </a:prstGeom>
          <a:solidFill>
            <a:srgbClr val="4F6BFF"/>
          </a:solidFill>
          <a:ln/>
        </p:spPr>
      </p:sp>
      <p:sp>
        <p:nvSpPr>
          <p:cNvPr id="19" name="Shape 17"/>
          <p:cNvSpPr/>
          <p:nvPr/>
        </p:nvSpPr>
        <p:spPr>
          <a:xfrm>
            <a:off x="777240" y="3630168"/>
            <a:ext cx="420624" cy="420624"/>
          </a:xfrm>
          <a:prstGeom prst="ellipse">
            <a:avLst/>
          </a:prstGeom>
          <a:solidFill>
            <a:srgbClr val="4F6BFF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371600" y="352044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3657600" y="352044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Senior-signal probes · Missing checkout flow · Documented vulns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48640" y="4297680"/>
            <a:ext cx="11064240" cy="640080"/>
          </a:xfrm>
          <a:prstGeom prst="rect">
            <a:avLst/>
          </a:prstGeom>
          <a:solidFill>
            <a:srgbClr val="111E40"/>
          </a:solidFill>
          <a:ln/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48640" y="4297680"/>
            <a:ext cx="54864" cy="640080"/>
          </a:xfrm>
          <a:prstGeom prst="rect">
            <a:avLst/>
          </a:prstGeom>
          <a:solidFill>
            <a:srgbClr val="4F6BFF"/>
          </a:solidFill>
          <a:ln/>
        </p:spPr>
      </p:sp>
      <p:sp>
        <p:nvSpPr>
          <p:cNvPr id="25" name="Shape 23"/>
          <p:cNvSpPr/>
          <p:nvPr/>
        </p:nvSpPr>
        <p:spPr>
          <a:xfrm>
            <a:off x="777240" y="4407408"/>
            <a:ext cx="420624" cy="420624"/>
          </a:xfrm>
          <a:prstGeom prst="ellipse">
            <a:avLst/>
          </a:prstGeom>
          <a:solidFill>
            <a:srgbClr val="4F6BFF"/>
          </a:solidFill>
          <a:ln/>
        </p:spPr>
      </p:sp>
      <p:sp>
        <p:nvSpPr>
          <p:cNvPr id="26" name="Text 24"/>
          <p:cNvSpPr/>
          <p:nvPr/>
        </p:nvSpPr>
        <p:spPr>
          <a:xfrm>
            <a:off x="777240" y="44074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371600" y="429768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3657600" y="429768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rich HTML report · Trend dashboard · CSV history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48640" y="5074920"/>
            <a:ext cx="11064240" cy="640080"/>
          </a:xfrm>
          <a:prstGeom prst="rect">
            <a:avLst/>
          </a:prstGeom>
          <a:solidFill>
            <a:srgbClr val="111E40"/>
          </a:solidFill>
          <a:ln/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548640" y="5074920"/>
            <a:ext cx="54864" cy="640080"/>
          </a:xfrm>
          <a:prstGeom prst="rect">
            <a:avLst/>
          </a:prstGeom>
          <a:solidFill>
            <a:srgbClr val="4F6BFF"/>
          </a:solidFill>
          <a:ln/>
        </p:spPr>
      </p:sp>
      <p:sp>
        <p:nvSpPr>
          <p:cNvPr id="31" name="Shape 29"/>
          <p:cNvSpPr/>
          <p:nvPr/>
        </p:nvSpPr>
        <p:spPr>
          <a:xfrm>
            <a:off x="777240" y="5184648"/>
            <a:ext cx="420624" cy="420624"/>
          </a:xfrm>
          <a:prstGeom prst="ellipse">
            <a:avLst/>
          </a:prstGeom>
          <a:solidFill>
            <a:srgbClr val="4F6BFF"/>
          </a:solidFill>
          <a:ln/>
        </p:spPr>
      </p:sp>
      <p:sp>
        <p:nvSpPr>
          <p:cNvPr id="32" name="Text 30"/>
          <p:cNvSpPr/>
          <p:nvPr/>
        </p:nvSpPr>
        <p:spPr>
          <a:xfrm>
            <a:off x="777240" y="51846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371600" y="50749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3657600" y="50749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CI pipelines (GH Actions / GitLab / Jenkins / Azure)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48640" y="5852160"/>
            <a:ext cx="11064240" cy="640080"/>
          </a:xfrm>
          <a:prstGeom prst="rect">
            <a:avLst/>
          </a:prstGeom>
          <a:solidFill>
            <a:srgbClr val="111E40"/>
          </a:solidFill>
          <a:ln/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548640" y="5852160"/>
            <a:ext cx="54864" cy="640080"/>
          </a:xfrm>
          <a:prstGeom prst="rect">
            <a:avLst/>
          </a:prstGeom>
          <a:solidFill>
            <a:srgbClr val="4F6BFF"/>
          </a:solidFill>
          <a:ln/>
        </p:spPr>
      </p:sp>
      <p:sp>
        <p:nvSpPr>
          <p:cNvPr id="37" name="Shape 35"/>
          <p:cNvSpPr/>
          <p:nvPr/>
        </p:nvSpPr>
        <p:spPr>
          <a:xfrm>
            <a:off x="777240" y="5961888"/>
            <a:ext cx="420624" cy="420624"/>
          </a:xfrm>
          <a:prstGeom prst="ellipse">
            <a:avLst/>
          </a:prstGeom>
          <a:solidFill>
            <a:srgbClr val="4F6BFF"/>
          </a:solidFill>
          <a:ln/>
        </p:spPr>
      </p:sp>
      <p:sp>
        <p:nvSpPr>
          <p:cNvPr id="38" name="Text 36"/>
          <p:cNvSpPr/>
          <p:nvPr/>
        </p:nvSpPr>
        <p:spPr>
          <a:xfrm>
            <a:off x="777240" y="5961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1371600" y="58521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3657600" y="585216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docs: Test Plan · Code Tour · Code Explanation · this deck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48640" y="6446520"/>
            <a:ext cx="11094415" cy="0"/>
          </a:xfrm>
          <a:prstGeom prst="line">
            <a:avLst/>
          </a:prstGeom>
          <a:noFill/>
          <a:ln w="9525">
            <a:solidFill>
              <a:srgbClr val="1F2D5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48640" y="6492240"/>
            <a:ext cx="7619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11  ·  Beyond the brief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4572000" y="6492240"/>
            <a:ext cx="7071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EVERSTAGE QA ASSESSMENT  ·  ASHIK MOHAMED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1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F6B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6304"/>
            <a:ext cx="12191695" cy="36576"/>
          </a:xfrm>
          <a:prstGeom prst="rect">
            <a:avLst/>
          </a:prstGeom>
          <a:solidFill>
            <a:srgbClr val="5EE7FF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411480"/>
            <a:ext cx="164592" cy="164592"/>
          </a:xfrm>
          <a:prstGeom prst="ellipse">
            <a:avLst/>
          </a:prstGeom>
          <a:solidFill>
            <a:srgbClr val="4F6BFF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3840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Everstage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094415" y="38404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960120"/>
            <a:ext cx="457200" cy="54864"/>
          </a:xfrm>
          <a:prstGeom prst="rect">
            <a:avLst/>
          </a:prstGeom>
          <a:solidFill>
            <a:srgbClr val="4F6BF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86868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5E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 DIFFERENTIATOR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12344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Senior-signal tests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548640" y="2121408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written as if I were testing Everstage</a:t>
            </a:r>
            <a:endParaRPr lang="en-US" sz="1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743200"/>
          <a:ext cx="11064240" cy="914400"/>
        </p:xfrm>
        <a:graphic>
          <a:graphicData uri="http://schemas.openxmlformats.org/drawingml/2006/table">
            <a:tbl>
              <a:tblPr/>
              <a:tblGrid>
                <a:gridCol w="5029200"/>
                <a:gridCol w="60350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8FA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85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5EE7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Everstage parallel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85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8FAF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[TC-API-150]  Idempotency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7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8FA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Duplicate commission entries for same closed-won deal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73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8FAF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[TC-API-151]  Concurrent race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7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8FA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Payout race on rapid double-clicks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73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8FAF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[TC-API-152]  Schema contract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7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8FA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Audit-trail integrity for SOC 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73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8FAF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[TC-API-156]  Cross-layer consistency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7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8FA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Write-went-nowhere cache failure mode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73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8FAF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[TC-API-122/125]  IDOR / mass-assignment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7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8FA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Multi-tenant isolation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73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8FAF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[TC-API-1621]  BOLA on checkout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7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8FA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Multi-tenant payout integrity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733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548640" y="5852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E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test maps to a real concern at a sales-comp / payout platform.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48640" y="6446520"/>
            <a:ext cx="11094415" cy="0"/>
          </a:xfrm>
          <a:prstGeom prst="line">
            <a:avLst/>
          </a:prstGeom>
          <a:noFill/>
          <a:ln w="9525">
            <a:solidFill>
              <a:srgbClr val="1F2D5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6492240"/>
            <a:ext cx="7619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12  ·  Senior-signal tests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92240"/>
            <a:ext cx="7071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EVERSTAGE QA ASSESSMENT  ·  ASHIK MOHAMED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1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F6B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6304"/>
            <a:ext cx="12191695" cy="36576"/>
          </a:xfrm>
          <a:prstGeom prst="rect">
            <a:avLst/>
          </a:prstGeom>
          <a:solidFill>
            <a:srgbClr val="5EE7FF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411480"/>
            <a:ext cx="164592" cy="164592"/>
          </a:xfrm>
          <a:prstGeom prst="ellipse">
            <a:avLst/>
          </a:prstGeom>
          <a:solidFill>
            <a:srgbClr val="4F6BFF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3840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Everstage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094415" y="38404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960120"/>
            <a:ext cx="457200" cy="54864"/>
          </a:xfrm>
          <a:prstGeom prst="rect">
            <a:avLst/>
          </a:prstGeom>
          <a:solidFill>
            <a:srgbClr val="4F6BF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86868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5E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06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12344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Playwright fixtures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548640" y="2121408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tests/fixtures.ts  ·  3 fixtures, lazy + composable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2743200"/>
            <a:ext cx="7772400" cy="3657600"/>
          </a:xfrm>
          <a:prstGeom prst="rect">
            <a:avLst/>
          </a:prstGeom>
          <a:solidFill>
            <a:srgbClr val="061029"/>
          </a:solidFill>
          <a:ln w="12700">
            <a:solidFill>
              <a:srgbClr val="1A2853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4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48640" y="2743200"/>
            <a:ext cx="54864" cy="3657600"/>
          </a:xfrm>
          <a:prstGeom prst="rect">
            <a:avLst/>
          </a:prstGeom>
          <a:solidFill>
            <a:srgbClr val="5EE7FF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2926080"/>
            <a:ext cx="74066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const test = base.extend({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apiSession: async ({ request }, use) =&gt; {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await use(await loginSession(request, user.email, user.password));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authenticatedPage: async ({ page, context }, use) =&gt; {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await loginBeforeEach(page, context);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await use(page);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seededCheckout: async ({ request, apiSession }, use) =&gt; {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[a, c, p, d] = await Promise.all([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seedAddress(...), seedCard(...),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findStockableProductId(...), defaultDeliveryMethodId(...)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]);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await use({ ...apiSession, a, c, p, d });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8686800" y="27432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E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fixtures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686800" y="3291840"/>
            <a:ext cx="146304" cy="146304"/>
          </a:xfrm>
          <a:prstGeom prst="ellipse">
            <a:avLst/>
          </a:prstGeom>
          <a:solidFill>
            <a:srgbClr val="4F6BFF"/>
          </a:solidFill>
          <a:ln/>
        </p:spPr>
      </p:sp>
      <p:sp>
        <p:nvSpPr>
          <p:cNvPr id="16" name="Text 14"/>
          <p:cNvSpPr/>
          <p:nvPr/>
        </p:nvSpPr>
        <p:spPr>
          <a:xfrm>
            <a:off x="8942832" y="320040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Lazy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942832" y="3493008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pay for setup they declare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686800" y="4005072"/>
            <a:ext cx="146304" cy="146304"/>
          </a:xfrm>
          <a:prstGeom prst="ellipse">
            <a:avLst/>
          </a:prstGeom>
          <a:solidFill>
            <a:srgbClr val="4F6BFF"/>
          </a:solidFill>
          <a:ln/>
        </p:spPr>
      </p:sp>
      <p:sp>
        <p:nvSpPr>
          <p:cNvPr id="19" name="Text 17"/>
          <p:cNvSpPr/>
          <p:nvPr/>
        </p:nvSpPr>
        <p:spPr>
          <a:xfrm>
            <a:off x="8942832" y="391363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Composable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942832" y="420624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seededCheckout reuses apiSession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8686800" y="4718304"/>
            <a:ext cx="146304" cy="146304"/>
          </a:xfrm>
          <a:prstGeom prst="ellipse">
            <a:avLst/>
          </a:prstGeom>
          <a:solidFill>
            <a:srgbClr val="4F6BFF"/>
          </a:solidFill>
          <a:ln/>
        </p:spPr>
      </p:sp>
      <p:sp>
        <p:nvSpPr>
          <p:cNvPr id="22" name="Text 20"/>
          <p:cNvSpPr/>
          <p:nvPr/>
        </p:nvSpPr>
        <p:spPr>
          <a:xfrm>
            <a:off x="8942832" y="4626864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Parallel-safe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942832" y="4919472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Promise.all on 4 seed steps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6446520"/>
            <a:ext cx="11094415" cy="0"/>
          </a:xfrm>
          <a:prstGeom prst="line">
            <a:avLst/>
          </a:prstGeom>
          <a:noFill/>
          <a:ln w="9525">
            <a:solidFill>
              <a:srgbClr val="1F2D5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" y="6492240"/>
            <a:ext cx="7619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13  ·  Fixtures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572000" y="6492240"/>
            <a:ext cx="7071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EVERSTAGE QA ASSESSMENT  ·  ASHIK MOHAMED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1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F6B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6304"/>
            <a:ext cx="12191695" cy="36576"/>
          </a:xfrm>
          <a:prstGeom prst="rect">
            <a:avLst/>
          </a:prstGeom>
          <a:solidFill>
            <a:srgbClr val="5EE7FF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411480"/>
            <a:ext cx="164592" cy="164592"/>
          </a:xfrm>
          <a:prstGeom prst="ellipse">
            <a:avLst/>
          </a:prstGeom>
          <a:solidFill>
            <a:srgbClr val="4F6BFF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3840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Everstage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094415" y="38404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960120"/>
            <a:ext cx="457200" cy="54864"/>
          </a:xfrm>
          <a:prstGeom prst="rect">
            <a:avLst/>
          </a:prstGeom>
          <a:solidFill>
            <a:srgbClr val="4F6BF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86868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5E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 DIFFERENTIATOR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12344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missing flow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548640" y="2121408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Pre-existing suite tested each step alone — never end-to-end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1286104" y="2743200"/>
            <a:ext cx="292608" cy="292608"/>
          </a:xfrm>
          <a:prstGeom prst="ellipse">
            <a:avLst/>
          </a:prstGeom>
          <a:solidFill>
            <a:srgbClr val="5EE7FF"/>
          </a:solidFill>
          <a:ln/>
        </p:spPr>
      </p:sp>
      <p:sp>
        <p:nvSpPr>
          <p:cNvPr id="12" name="Text 10"/>
          <p:cNvSpPr/>
          <p:nvPr/>
        </p:nvSpPr>
        <p:spPr>
          <a:xfrm>
            <a:off x="1286104" y="27432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1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00888" y="3108960"/>
            <a:ext cx="1463040" cy="685800"/>
          </a:xfrm>
          <a:prstGeom prst="homePlate">
            <a:avLst/>
          </a:prstGeom>
          <a:solidFill>
            <a:srgbClr val="4F6BFF"/>
          </a:solidFill>
          <a:ln/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55168" y="310896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840584" y="2743200"/>
            <a:ext cx="292608" cy="292608"/>
          </a:xfrm>
          <a:prstGeom prst="ellipse">
            <a:avLst/>
          </a:prstGeom>
          <a:solidFill>
            <a:srgbClr val="5EE7FF"/>
          </a:solidFill>
          <a:ln/>
        </p:spPr>
      </p:sp>
      <p:sp>
        <p:nvSpPr>
          <p:cNvPr id="16" name="Text 14"/>
          <p:cNvSpPr/>
          <p:nvPr/>
        </p:nvSpPr>
        <p:spPr>
          <a:xfrm>
            <a:off x="2840584" y="27432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1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255368" y="3108960"/>
            <a:ext cx="1463040" cy="685800"/>
          </a:xfrm>
          <a:prstGeom prst="homePlate">
            <a:avLst/>
          </a:prstGeom>
          <a:solidFill>
            <a:srgbClr val="4F6BFF"/>
          </a:solidFill>
          <a:ln/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2209648" y="310896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basket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395064" y="2743200"/>
            <a:ext cx="292608" cy="292608"/>
          </a:xfrm>
          <a:prstGeom prst="ellipse">
            <a:avLst/>
          </a:prstGeom>
          <a:solidFill>
            <a:srgbClr val="5EE7FF"/>
          </a:solidFill>
          <a:ln/>
        </p:spPr>
      </p:sp>
      <p:sp>
        <p:nvSpPr>
          <p:cNvPr id="20" name="Text 18"/>
          <p:cNvSpPr/>
          <p:nvPr/>
        </p:nvSpPr>
        <p:spPr>
          <a:xfrm>
            <a:off x="4395064" y="27432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1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809848" y="3108960"/>
            <a:ext cx="1463040" cy="685800"/>
          </a:xfrm>
          <a:prstGeom prst="homePlate">
            <a:avLst/>
          </a:prstGeom>
          <a:solidFill>
            <a:srgbClr val="4F6BFF"/>
          </a:solidFill>
          <a:ln/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3764128" y="310896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address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949544" y="2743200"/>
            <a:ext cx="292608" cy="292608"/>
          </a:xfrm>
          <a:prstGeom prst="ellipse">
            <a:avLst/>
          </a:prstGeom>
          <a:solidFill>
            <a:srgbClr val="5EE7FF"/>
          </a:solidFill>
          <a:ln/>
        </p:spPr>
      </p:sp>
      <p:sp>
        <p:nvSpPr>
          <p:cNvPr id="24" name="Text 22"/>
          <p:cNvSpPr/>
          <p:nvPr/>
        </p:nvSpPr>
        <p:spPr>
          <a:xfrm>
            <a:off x="5949544" y="27432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1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364328" y="3108960"/>
            <a:ext cx="1463040" cy="685800"/>
          </a:xfrm>
          <a:prstGeom prst="homePlate">
            <a:avLst/>
          </a:prstGeom>
          <a:solidFill>
            <a:srgbClr val="4F6BFF"/>
          </a:solidFill>
          <a:ln/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5318608" y="310896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504024" y="2743200"/>
            <a:ext cx="292608" cy="292608"/>
          </a:xfrm>
          <a:prstGeom prst="ellipse">
            <a:avLst/>
          </a:prstGeom>
          <a:solidFill>
            <a:srgbClr val="5EE7FF"/>
          </a:solidFill>
          <a:ln/>
        </p:spPr>
      </p:sp>
      <p:sp>
        <p:nvSpPr>
          <p:cNvPr id="28" name="Text 26"/>
          <p:cNvSpPr/>
          <p:nvPr/>
        </p:nvSpPr>
        <p:spPr>
          <a:xfrm>
            <a:off x="7504024" y="27432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1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918808" y="3108960"/>
            <a:ext cx="1463040" cy="685800"/>
          </a:xfrm>
          <a:prstGeom prst="homePlate">
            <a:avLst/>
          </a:prstGeom>
          <a:solidFill>
            <a:srgbClr val="4F6BFF"/>
          </a:solidFill>
          <a:ln/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873088" y="310896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9058504" y="2743200"/>
            <a:ext cx="292608" cy="292608"/>
          </a:xfrm>
          <a:prstGeom prst="ellipse">
            <a:avLst/>
          </a:prstGeom>
          <a:solidFill>
            <a:srgbClr val="5EE7FF"/>
          </a:solidFill>
          <a:ln/>
        </p:spPr>
      </p:sp>
      <p:sp>
        <p:nvSpPr>
          <p:cNvPr id="32" name="Text 30"/>
          <p:cNvSpPr/>
          <p:nvPr/>
        </p:nvSpPr>
        <p:spPr>
          <a:xfrm>
            <a:off x="9058504" y="27432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1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8473288" y="3108960"/>
            <a:ext cx="1463040" cy="685800"/>
          </a:xfrm>
          <a:prstGeom prst="homePlate">
            <a:avLst/>
          </a:prstGeom>
          <a:solidFill>
            <a:srgbClr val="4F6BFF"/>
          </a:solidFill>
          <a:ln/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8427568" y="310896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order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10612984" y="2743200"/>
            <a:ext cx="292608" cy="292608"/>
          </a:xfrm>
          <a:prstGeom prst="ellipse">
            <a:avLst/>
          </a:prstGeom>
          <a:solidFill>
            <a:srgbClr val="5EE7FF"/>
          </a:solidFill>
          <a:ln/>
        </p:spPr>
      </p:sp>
      <p:sp>
        <p:nvSpPr>
          <p:cNvPr id="36" name="Text 34"/>
          <p:cNvSpPr/>
          <p:nvPr/>
        </p:nvSpPr>
        <p:spPr>
          <a:xfrm>
            <a:off x="10612984" y="27432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1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10027768" y="3108960"/>
            <a:ext cx="1463040" cy="685800"/>
          </a:xfrm>
          <a:prstGeom prst="homePlate">
            <a:avLst/>
          </a:prstGeom>
          <a:solidFill>
            <a:srgbClr val="4F6BFF"/>
          </a:solidFill>
          <a:ln/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9982048" y="310896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confirmation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548640" y="41148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E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found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48640" y="4572000"/>
            <a:ext cx="11064240" cy="548640"/>
          </a:xfrm>
          <a:prstGeom prst="rect">
            <a:avLst/>
          </a:prstGeom>
          <a:solidFill>
            <a:srgbClr val="111E40"/>
          </a:solidFill>
          <a:ln/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548640" y="4572000"/>
            <a:ext cx="54864" cy="5486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2" name="Text 40"/>
          <p:cNvSpPr/>
          <p:nvPr/>
        </p:nvSpPr>
        <p:spPr>
          <a:xfrm>
            <a:off x="777240" y="4617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7D2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[TC-API-1611]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2697480" y="461772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Empty-basket checkout still mints an order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9784080" y="4690872"/>
            <a:ext cx="1554480" cy="310896"/>
          </a:xfrm>
          <a:prstGeom prst="roundRect">
            <a:avLst>
              <a:gd name="adj" fmla="val 14706"/>
            </a:avLst>
          </a:prstGeom>
          <a:solidFill>
            <a:srgbClr val="F59E0B"/>
          </a:solidFill>
          <a:ln/>
        </p:spPr>
      </p:sp>
      <p:sp>
        <p:nvSpPr>
          <p:cNvPr id="45" name="Text 43"/>
          <p:cNvSpPr/>
          <p:nvPr/>
        </p:nvSpPr>
        <p:spPr>
          <a:xfrm>
            <a:off x="9784080" y="4690872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1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548640" y="5212080"/>
            <a:ext cx="11064240" cy="548640"/>
          </a:xfrm>
          <a:prstGeom prst="rect">
            <a:avLst/>
          </a:prstGeom>
          <a:solidFill>
            <a:srgbClr val="111E40"/>
          </a:solidFill>
          <a:ln/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548640" y="5212080"/>
            <a:ext cx="54864" cy="54864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8" name="Text 46"/>
          <p:cNvSpPr/>
          <p:nvPr/>
        </p:nvSpPr>
        <p:spPr>
          <a:xfrm>
            <a:off x="777240" y="52578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7D2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[TC-API-1621]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2697480" y="525780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BOLA — any user can checkout any basket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9784080" y="5330952"/>
            <a:ext cx="1554480" cy="310896"/>
          </a:xfrm>
          <a:prstGeom prst="roundRect">
            <a:avLst>
              <a:gd name="adj" fmla="val 14706"/>
            </a:avLst>
          </a:prstGeom>
          <a:solidFill>
            <a:srgbClr val="EF4444"/>
          </a:solidFill>
          <a:ln/>
        </p:spPr>
      </p:sp>
      <p:sp>
        <p:nvSpPr>
          <p:cNvPr id="51" name="Text 49"/>
          <p:cNvSpPr/>
          <p:nvPr/>
        </p:nvSpPr>
        <p:spPr>
          <a:xfrm>
            <a:off x="9784080" y="5330952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1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solidFill>
            <a:srgbClr val="111E40"/>
          </a:solidFill>
          <a:ln/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53" name="Shape 51"/>
          <p:cNvSpPr/>
          <p:nvPr/>
        </p:nvSpPr>
        <p:spPr>
          <a:xfrm>
            <a:off x="548640" y="5852160"/>
            <a:ext cx="54864" cy="5486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54" name="Text 52"/>
          <p:cNvSpPr/>
          <p:nvPr/>
        </p:nvSpPr>
        <p:spPr>
          <a:xfrm>
            <a:off x="777240" y="58978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7D2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[TC-UI-720]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2697480" y="589788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/address/select reachable without auth</a:t>
            </a:r>
            <a:endParaRPr lang="en-US" sz="1400" dirty="0"/>
          </a:p>
        </p:txBody>
      </p:sp>
      <p:sp>
        <p:nvSpPr>
          <p:cNvPr id="56" name="Shape 54"/>
          <p:cNvSpPr/>
          <p:nvPr/>
        </p:nvSpPr>
        <p:spPr>
          <a:xfrm>
            <a:off x="9784080" y="5971032"/>
            <a:ext cx="1554480" cy="310896"/>
          </a:xfrm>
          <a:prstGeom prst="roundRect">
            <a:avLst>
              <a:gd name="adj" fmla="val 14706"/>
            </a:avLst>
          </a:prstGeom>
          <a:solidFill>
            <a:srgbClr val="F59E0B"/>
          </a:solidFill>
          <a:ln/>
        </p:spPr>
      </p:sp>
      <p:sp>
        <p:nvSpPr>
          <p:cNvPr id="57" name="Text 55"/>
          <p:cNvSpPr/>
          <p:nvPr/>
        </p:nvSpPr>
        <p:spPr>
          <a:xfrm>
            <a:off x="9784080" y="5971032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1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548640" y="6446520"/>
            <a:ext cx="11094415" cy="0"/>
          </a:xfrm>
          <a:prstGeom prst="line">
            <a:avLst/>
          </a:prstGeom>
          <a:noFill/>
          <a:ln w="9525">
            <a:solidFill>
              <a:srgbClr val="1F2D5C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48640" y="6492240"/>
            <a:ext cx="7619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14  ·  The missing flow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4572000" y="6492240"/>
            <a:ext cx="7071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EVERSTAGE QA ASSESSMENT  ·  ASHIK MOHAMED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1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F6B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6304"/>
            <a:ext cx="12191695" cy="36576"/>
          </a:xfrm>
          <a:prstGeom prst="rect">
            <a:avLst/>
          </a:prstGeom>
          <a:solidFill>
            <a:srgbClr val="5EE7FF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411480"/>
            <a:ext cx="164592" cy="164592"/>
          </a:xfrm>
          <a:prstGeom prst="ellipse">
            <a:avLst/>
          </a:prstGeom>
          <a:solidFill>
            <a:srgbClr val="4F6BFF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3840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Everstage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094415" y="38404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960120"/>
            <a:ext cx="457200" cy="54864"/>
          </a:xfrm>
          <a:prstGeom prst="rect">
            <a:avLst/>
          </a:prstGeom>
          <a:solidFill>
            <a:srgbClr val="4F6BF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86868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5E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07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12344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 matrix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548640" y="2121408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suite, three audiences, one command each</a:t>
            </a:r>
            <a:endParaRPr lang="en-US" sz="1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74320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657600"/>
                <a:gridCol w="1645920"/>
                <a:gridCol w="33832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8FA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85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8FAF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Run command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85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8FA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85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8FA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Audience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85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5EE7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@smoke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7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8FAF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npm run test:smoke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7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8FA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7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8FA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 gate (every PR)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73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5EE7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@regression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7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8FAF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npm run test:regression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7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8FA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7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8FA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Nightly / pre-deploy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73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5EE7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@everstage-qa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7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8FAF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npm run test:everstage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7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8FA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7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8FA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Assessment review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73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5EE7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@task1 / 2 / 3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7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8FAF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npm run test:taskN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7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8FA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/ 23 / 46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7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8FA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Brief-only slice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73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5EE7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@security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7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8FAF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npm run test:security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7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8FA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7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8FA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Threat-model audit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F2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733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548640" y="57607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EE7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Tags compose:  npx playwright test --grep "@security|@boundary"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48640" y="6446520"/>
            <a:ext cx="11094415" cy="0"/>
          </a:xfrm>
          <a:prstGeom prst="line">
            <a:avLst/>
          </a:prstGeom>
          <a:noFill/>
          <a:ln w="9525">
            <a:solidFill>
              <a:srgbClr val="1F2D5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6492240"/>
            <a:ext cx="7619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15  ·  Tag matrix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92240"/>
            <a:ext cx="7071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EVERSTAGE QA ASSESSMENT  ·  ASHIK MOHAMED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1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F6B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6304"/>
            <a:ext cx="12191695" cy="36576"/>
          </a:xfrm>
          <a:prstGeom prst="rect">
            <a:avLst/>
          </a:prstGeom>
          <a:solidFill>
            <a:srgbClr val="5EE7FF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411480"/>
            <a:ext cx="164592" cy="164592"/>
          </a:xfrm>
          <a:prstGeom prst="ellipse">
            <a:avLst/>
          </a:prstGeom>
          <a:solidFill>
            <a:srgbClr val="4F6BFF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3840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Everstage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094415" y="38404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960120"/>
            <a:ext cx="457200" cy="54864"/>
          </a:xfrm>
          <a:prstGeom prst="rect">
            <a:avLst/>
          </a:prstGeom>
          <a:solidFill>
            <a:srgbClr val="4F6BF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86868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5E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 DIFFERENTIATOR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12344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rich HTML report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548640" y="2121408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reports/test-report.html  ·  single self-contained file, no CDN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2834640"/>
            <a:ext cx="5394960" cy="914400"/>
          </a:xfrm>
          <a:prstGeom prst="rect">
            <a:avLst/>
          </a:prstGeom>
          <a:solidFill>
            <a:srgbClr val="111E40"/>
          </a:solidFill>
          <a:ln/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48640" y="2834640"/>
            <a:ext cx="54864" cy="914400"/>
          </a:xfrm>
          <a:prstGeom prst="rect">
            <a:avLst/>
          </a:prstGeom>
          <a:solidFill>
            <a:srgbClr val="4F6BFF"/>
          </a:solidFill>
          <a:ln/>
        </p:spPr>
      </p:sp>
      <p:sp>
        <p:nvSpPr>
          <p:cNvPr id="13" name="Shape 11"/>
          <p:cNvSpPr/>
          <p:nvPr/>
        </p:nvSpPr>
        <p:spPr>
          <a:xfrm>
            <a:off x="777240" y="3017520"/>
            <a:ext cx="548640" cy="548640"/>
          </a:xfrm>
          <a:prstGeom prst="ellipse">
            <a:avLst/>
          </a:prstGeom>
          <a:solidFill>
            <a:srgbClr val="4F6BFF"/>
          </a:solidFill>
          <a:ln/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77240" y="3017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554480" y="29260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search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554480" y="32918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by id, title, file, tag, or error text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217920" y="2834640"/>
            <a:ext cx="5394960" cy="914400"/>
          </a:xfrm>
          <a:prstGeom prst="rect">
            <a:avLst/>
          </a:prstGeom>
          <a:solidFill>
            <a:srgbClr val="111E40"/>
          </a:solidFill>
          <a:ln/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217920" y="2834640"/>
            <a:ext cx="54864" cy="914400"/>
          </a:xfrm>
          <a:prstGeom prst="rect">
            <a:avLst/>
          </a:prstGeom>
          <a:solidFill>
            <a:srgbClr val="4F6BFF"/>
          </a:solidFill>
          <a:ln/>
        </p:spPr>
      </p:sp>
      <p:sp>
        <p:nvSpPr>
          <p:cNvPr id="19" name="Shape 17"/>
          <p:cNvSpPr/>
          <p:nvPr/>
        </p:nvSpPr>
        <p:spPr>
          <a:xfrm>
            <a:off x="6446520" y="3017520"/>
            <a:ext cx="548640" cy="548640"/>
          </a:xfrm>
          <a:prstGeom prst="ellipse">
            <a:avLst/>
          </a:prstGeom>
          <a:solidFill>
            <a:srgbClr val="4F6BFF"/>
          </a:solidFill>
          <a:ln/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446520" y="3017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7223760" y="29260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chips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223760" y="32918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· layer · category · scope · CI gate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" y="3931920"/>
            <a:ext cx="5394960" cy="914400"/>
          </a:xfrm>
          <a:prstGeom prst="rect">
            <a:avLst/>
          </a:prstGeom>
          <a:solidFill>
            <a:srgbClr val="111E40"/>
          </a:solidFill>
          <a:ln/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48640" y="3931920"/>
            <a:ext cx="54864" cy="914400"/>
          </a:xfrm>
          <a:prstGeom prst="rect">
            <a:avLst/>
          </a:prstGeom>
          <a:solidFill>
            <a:srgbClr val="4F6BFF"/>
          </a:solidFill>
          <a:ln/>
        </p:spPr>
      </p:sp>
      <p:sp>
        <p:nvSpPr>
          <p:cNvPr id="25" name="Shape 23"/>
          <p:cNvSpPr/>
          <p:nvPr/>
        </p:nvSpPr>
        <p:spPr>
          <a:xfrm>
            <a:off x="777240" y="4114800"/>
            <a:ext cx="548640" cy="548640"/>
          </a:xfrm>
          <a:prstGeom prst="ellipse">
            <a:avLst/>
          </a:prstGeom>
          <a:solidFill>
            <a:srgbClr val="4F6BFF"/>
          </a:solidFill>
          <a:ln/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777240" y="4114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1554480" y="40233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Pass-rate trend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554480" y="43891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30 runs, color-coded by health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17920" y="3931920"/>
            <a:ext cx="5394960" cy="914400"/>
          </a:xfrm>
          <a:prstGeom prst="rect">
            <a:avLst/>
          </a:prstGeom>
          <a:solidFill>
            <a:srgbClr val="111E40"/>
          </a:solidFill>
          <a:ln/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217920" y="3931920"/>
            <a:ext cx="54864" cy="914400"/>
          </a:xfrm>
          <a:prstGeom prst="rect">
            <a:avLst/>
          </a:prstGeom>
          <a:solidFill>
            <a:srgbClr val="4F6BFF"/>
          </a:solidFill>
          <a:ln/>
        </p:spPr>
      </p:sp>
      <p:sp>
        <p:nvSpPr>
          <p:cNvPr id="31" name="Shape 29"/>
          <p:cNvSpPr/>
          <p:nvPr/>
        </p:nvSpPr>
        <p:spPr>
          <a:xfrm>
            <a:off x="6446520" y="4114800"/>
            <a:ext cx="548640" cy="548640"/>
          </a:xfrm>
          <a:prstGeom prst="ellipse">
            <a:avLst/>
          </a:prstGeom>
          <a:solidFill>
            <a:srgbClr val="4F6BFF"/>
          </a:solidFill>
          <a:ln/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446520" y="4114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7223760" y="40233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Per-test drawer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7223760" y="43891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Steps, API request/response inline, screenshots, video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548640" y="5029200"/>
            <a:ext cx="5394960" cy="914400"/>
          </a:xfrm>
          <a:prstGeom prst="rect">
            <a:avLst/>
          </a:prstGeom>
          <a:solidFill>
            <a:srgbClr val="111E40"/>
          </a:solidFill>
          <a:ln/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548640" y="5029200"/>
            <a:ext cx="54864" cy="914400"/>
          </a:xfrm>
          <a:prstGeom prst="rect">
            <a:avLst/>
          </a:prstGeom>
          <a:solidFill>
            <a:srgbClr val="4F6BFF"/>
          </a:solidFill>
          <a:ln/>
        </p:spPr>
      </p:sp>
      <p:sp>
        <p:nvSpPr>
          <p:cNvPr id="37" name="Shape 35"/>
          <p:cNvSpPr/>
          <p:nvPr/>
        </p:nvSpPr>
        <p:spPr>
          <a:xfrm>
            <a:off x="777240" y="5212080"/>
            <a:ext cx="548640" cy="548640"/>
          </a:xfrm>
          <a:prstGeom prst="ellipse">
            <a:avLst/>
          </a:prstGeom>
          <a:solidFill>
            <a:srgbClr val="4F6BFF"/>
          </a:solidFill>
          <a:ln/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777240" y="5212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2200" dirty="0"/>
          </a:p>
        </p:txBody>
      </p:sp>
      <p:sp>
        <p:nvSpPr>
          <p:cNvPr id="39" name="Text 37"/>
          <p:cNvSpPr/>
          <p:nvPr/>
        </p:nvSpPr>
        <p:spPr>
          <a:xfrm>
            <a:off x="1554480" y="512064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cards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1554480" y="54864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Copy-to-clipboard show-trace command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217920" y="5029200"/>
            <a:ext cx="5394960" cy="914400"/>
          </a:xfrm>
          <a:prstGeom prst="rect">
            <a:avLst/>
          </a:prstGeom>
          <a:solidFill>
            <a:srgbClr val="111E40"/>
          </a:solidFill>
          <a:ln/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217920" y="5029200"/>
            <a:ext cx="54864" cy="914400"/>
          </a:xfrm>
          <a:prstGeom prst="rect">
            <a:avLst/>
          </a:prstGeom>
          <a:solidFill>
            <a:srgbClr val="4F6BFF"/>
          </a:solidFill>
          <a:ln/>
        </p:spPr>
      </p:sp>
      <p:sp>
        <p:nvSpPr>
          <p:cNvPr id="43" name="Shape 41"/>
          <p:cNvSpPr/>
          <p:nvPr/>
        </p:nvSpPr>
        <p:spPr>
          <a:xfrm>
            <a:off x="6446520" y="5212080"/>
            <a:ext cx="548640" cy="548640"/>
          </a:xfrm>
          <a:prstGeom prst="ellipse">
            <a:avLst/>
          </a:prstGeom>
          <a:solidFill>
            <a:srgbClr val="4F6BFF"/>
          </a:solidFill>
          <a:ln/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446520" y="5212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2200" dirty="0"/>
          </a:p>
        </p:txBody>
      </p:sp>
      <p:sp>
        <p:nvSpPr>
          <p:cNvPr id="45" name="Text 43"/>
          <p:cNvSpPr/>
          <p:nvPr/>
        </p:nvSpPr>
        <p:spPr>
          <a:xfrm>
            <a:off x="7223760" y="512064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 dashboard</a:t>
            </a:r>
            <a:endParaRPr lang="en-US" sz="1600" dirty="0"/>
          </a:p>
        </p:txBody>
      </p:sp>
      <p:sp>
        <p:nvSpPr>
          <p:cNvPr id="46" name="Text 44"/>
          <p:cNvSpPr/>
          <p:nvPr/>
        </p:nvSpPr>
        <p:spPr>
          <a:xfrm>
            <a:off x="7223760" y="54864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/ passed / failed / flaky / runtime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548640" y="61264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EE7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Demo: open `npm run report:rich` in the browser tab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548640" y="6446520"/>
            <a:ext cx="11094415" cy="0"/>
          </a:xfrm>
          <a:prstGeom prst="line">
            <a:avLst/>
          </a:prstGeom>
          <a:noFill/>
          <a:ln w="9525">
            <a:solidFill>
              <a:srgbClr val="1F2D5C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48640" y="6492240"/>
            <a:ext cx="7619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16  ·  Custom HTML report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4572000" y="6492240"/>
            <a:ext cx="7071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EVERSTAGE QA ASSESSMENT  ·  ASHIK MOHAMED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A1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F6B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6304"/>
            <a:ext cx="12191695" cy="36576"/>
          </a:xfrm>
          <a:prstGeom prst="rect">
            <a:avLst/>
          </a:prstGeom>
          <a:solidFill>
            <a:srgbClr val="5EE7FF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411480"/>
            <a:ext cx="164592" cy="164592"/>
          </a:xfrm>
          <a:prstGeom prst="ellipse">
            <a:avLst/>
          </a:prstGeom>
          <a:solidFill>
            <a:srgbClr val="4F6BFF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3840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Everstage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094415" y="38404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960120"/>
            <a:ext cx="457200" cy="54864"/>
          </a:xfrm>
          <a:prstGeom prst="rect">
            <a:avLst/>
          </a:prstGeom>
          <a:solidFill>
            <a:srgbClr val="4F6BF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86868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5E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08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12344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548640" y="2121408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config, four pipelines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2834640"/>
            <a:ext cx="11064240" cy="548640"/>
          </a:xfrm>
          <a:prstGeom prst="rect">
            <a:avLst/>
          </a:prstGeom>
          <a:solidFill>
            <a:srgbClr val="111E40"/>
          </a:solidFill>
          <a:ln/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48640" y="2834640"/>
            <a:ext cx="54864" cy="548640"/>
          </a:xfrm>
          <a:prstGeom prst="rect">
            <a:avLst/>
          </a:prstGeom>
          <a:solidFill>
            <a:srgbClr val="5EE7FF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28346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383280" y="283464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7D2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.github/workflows/playwright.yml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966960" y="2953512"/>
            <a:ext cx="1554480" cy="310896"/>
          </a:xfrm>
          <a:prstGeom prst="roundRect">
            <a:avLst>
              <a:gd name="adj" fmla="val 14706"/>
            </a:avLst>
          </a:prstGeom>
          <a:solidFill>
            <a:srgbClr val="5EE7FF"/>
          </a:solidFill>
          <a:ln/>
        </p:spPr>
      </p:sp>
      <p:sp>
        <p:nvSpPr>
          <p:cNvPr id="16" name="Text 14"/>
          <p:cNvSpPr/>
          <p:nvPr/>
        </p:nvSpPr>
        <p:spPr>
          <a:xfrm>
            <a:off x="9966960" y="2953512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1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3474720"/>
            <a:ext cx="11064240" cy="548640"/>
          </a:xfrm>
          <a:prstGeom prst="rect">
            <a:avLst/>
          </a:prstGeom>
          <a:solidFill>
            <a:srgbClr val="111E40"/>
          </a:solidFill>
          <a:ln/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48640" y="3474720"/>
            <a:ext cx="54864" cy="548640"/>
          </a:xfrm>
          <a:prstGeom prst="rect">
            <a:avLst/>
          </a:prstGeom>
          <a:solidFill>
            <a:srgbClr val="4F6BFF"/>
          </a:solidFill>
          <a:ln/>
        </p:spPr>
      </p:sp>
      <p:sp>
        <p:nvSpPr>
          <p:cNvPr id="19" name="Text 17"/>
          <p:cNvSpPr/>
          <p:nvPr/>
        </p:nvSpPr>
        <p:spPr>
          <a:xfrm>
            <a:off x="777240" y="347472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GitLab CI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383280" y="347472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7D2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ci-examples/.gitlab-ci.yml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966960" y="3593592"/>
            <a:ext cx="1554480" cy="310896"/>
          </a:xfrm>
          <a:prstGeom prst="roundRect">
            <a:avLst>
              <a:gd name="adj" fmla="val 14706"/>
            </a:avLst>
          </a:prstGeom>
          <a:solidFill>
            <a:srgbClr val="4F6BFF"/>
          </a:solidFill>
          <a:ln/>
        </p:spPr>
      </p:sp>
      <p:sp>
        <p:nvSpPr>
          <p:cNvPr id="22" name="Text 20"/>
          <p:cNvSpPr/>
          <p:nvPr/>
        </p:nvSpPr>
        <p:spPr>
          <a:xfrm>
            <a:off x="9966960" y="3593592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1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Drop-in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4114800"/>
            <a:ext cx="11064240" cy="548640"/>
          </a:xfrm>
          <a:prstGeom prst="rect">
            <a:avLst/>
          </a:prstGeom>
          <a:solidFill>
            <a:srgbClr val="111E40"/>
          </a:solidFill>
          <a:ln/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48640" y="4114800"/>
            <a:ext cx="54864" cy="548640"/>
          </a:xfrm>
          <a:prstGeom prst="rect">
            <a:avLst/>
          </a:prstGeom>
          <a:solidFill>
            <a:srgbClr val="4F6BFF"/>
          </a:solidFill>
          <a:ln/>
        </p:spPr>
      </p:sp>
      <p:sp>
        <p:nvSpPr>
          <p:cNvPr id="25" name="Text 23"/>
          <p:cNvSpPr/>
          <p:nvPr/>
        </p:nvSpPr>
        <p:spPr>
          <a:xfrm>
            <a:off x="777240" y="41148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Jenkins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383280" y="411480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7D2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ci-examples/Jenkinsfile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966960" y="4233672"/>
            <a:ext cx="1554480" cy="310896"/>
          </a:xfrm>
          <a:prstGeom prst="roundRect">
            <a:avLst>
              <a:gd name="adj" fmla="val 14706"/>
            </a:avLst>
          </a:prstGeom>
          <a:solidFill>
            <a:srgbClr val="4F6BFF"/>
          </a:solidFill>
          <a:ln/>
        </p:spPr>
      </p:sp>
      <p:sp>
        <p:nvSpPr>
          <p:cNvPr id="28" name="Text 26"/>
          <p:cNvSpPr/>
          <p:nvPr/>
        </p:nvSpPr>
        <p:spPr>
          <a:xfrm>
            <a:off x="9966960" y="4233672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1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Drop-in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48640" y="4754880"/>
            <a:ext cx="11064240" cy="548640"/>
          </a:xfrm>
          <a:prstGeom prst="rect">
            <a:avLst/>
          </a:prstGeom>
          <a:solidFill>
            <a:srgbClr val="111E40"/>
          </a:solidFill>
          <a:ln/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548640" y="4754880"/>
            <a:ext cx="54864" cy="548640"/>
          </a:xfrm>
          <a:prstGeom prst="rect">
            <a:avLst/>
          </a:prstGeom>
          <a:solidFill>
            <a:srgbClr val="4F6BFF"/>
          </a:solidFill>
          <a:ln/>
        </p:spPr>
      </p:sp>
      <p:sp>
        <p:nvSpPr>
          <p:cNvPr id="31" name="Text 29"/>
          <p:cNvSpPr/>
          <p:nvPr/>
        </p:nvSpPr>
        <p:spPr>
          <a:xfrm>
            <a:off x="777240" y="475488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DevOps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3383280" y="475488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7D2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ci-examples/azure-pipelines.yml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9966960" y="4873752"/>
            <a:ext cx="1554480" cy="310896"/>
          </a:xfrm>
          <a:prstGeom prst="roundRect">
            <a:avLst>
              <a:gd name="adj" fmla="val 14706"/>
            </a:avLst>
          </a:prstGeom>
          <a:solidFill>
            <a:srgbClr val="4F6BFF"/>
          </a:solidFill>
          <a:ln/>
        </p:spPr>
      </p:sp>
      <p:sp>
        <p:nvSpPr>
          <p:cNvPr id="34" name="Text 32"/>
          <p:cNvSpPr/>
          <p:nvPr/>
        </p:nvSpPr>
        <p:spPr>
          <a:xfrm>
            <a:off x="9966960" y="4873752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1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Drop-in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48640" y="55321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E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pipelines use: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48640" y="58521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Microsoft's official Playwright Docker image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Juice Shop as a sidecar service container with healthcheck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Self-bootstrap of the assignment user via API on first boot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CI=true flips workers=2, retries=3, trace=retain-on-failure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548640" y="6446520"/>
            <a:ext cx="11094415" cy="0"/>
          </a:xfrm>
          <a:prstGeom prst="line">
            <a:avLst/>
          </a:prstGeom>
          <a:noFill/>
          <a:ln w="9525">
            <a:solidFill>
              <a:srgbClr val="1F2D5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48640" y="6492240"/>
            <a:ext cx="7619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17  ·  CI/CD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572000" y="6492240"/>
            <a:ext cx="7071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EVERSTAGE QA ASSESSMENT  ·  ASHIK MOHAMED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A1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F6B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6304"/>
            <a:ext cx="12191695" cy="36576"/>
          </a:xfrm>
          <a:prstGeom prst="rect">
            <a:avLst/>
          </a:prstGeom>
          <a:solidFill>
            <a:srgbClr val="5EE7FF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411480"/>
            <a:ext cx="164592" cy="164592"/>
          </a:xfrm>
          <a:prstGeom prst="ellipse">
            <a:avLst/>
          </a:prstGeom>
          <a:solidFill>
            <a:srgbClr val="4F6BFF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3840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Everstage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094415" y="38404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960120"/>
            <a:ext cx="457200" cy="54864"/>
          </a:xfrm>
          <a:prstGeom prst="rect">
            <a:avLst/>
          </a:prstGeom>
          <a:solidFill>
            <a:srgbClr val="4F6BF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86868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5E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09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12344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Bugs found  ·  33 active findings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548640" y="2121408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finding asserted as a passing test that encodes the unsafe behaviour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18592" y="2697480"/>
            <a:ext cx="2103120" cy="914400"/>
          </a:xfrm>
          <a:prstGeom prst="rect">
            <a:avLst/>
          </a:prstGeom>
          <a:solidFill>
            <a:srgbClr val="EF4444"/>
          </a:solidFill>
          <a:ln/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18592" y="27889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18592" y="2990088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600" dirty="0"/>
          </a:p>
        </p:txBody>
      </p:sp>
      <p:sp>
        <p:nvSpPr>
          <p:cNvPr id="14" name="Shape 12"/>
          <p:cNvSpPr/>
          <p:nvPr/>
        </p:nvSpPr>
        <p:spPr>
          <a:xfrm>
            <a:off x="2831440" y="2697480"/>
            <a:ext cx="2103120" cy="914400"/>
          </a:xfrm>
          <a:prstGeom prst="rect">
            <a:avLst/>
          </a:prstGeom>
          <a:solidFill>
            <a:srgbClr val="F97316"/>
          </a:solidFill>
          <a:ln/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2831440" y="27889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831440" y="2990088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3600" dirty="0"/>
          </a:p>
        </p:txBody>
      </p:sp>
      <p:sp>
        <p:nvSpPr>
          <p:cNvPr id="17" name="Shape 15"/>
          <p:cNvSpPr/>
          <p:nvPr/>
        </p:nvSpPr>
        <p:spPr>
          <a:xfrm>
            <a:off x="5044288" y="2697480"/>
            <a:ext cx="2103120" cy="914400"/>
          </a:xfrm>
          <a:prstGeom prst="rect">
            <a:avLst/>
          </a:prstGeom>
          <a:solidFill>
            <a:srgbClr val="F59E0B"/>
          </a:solidFill>
          <a:ln/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044288" y="27889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044288" y="2990088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3600" dirty="0"/>
          </a:p>
        </p:txBody>
      </p:sp>
      <p:sp>
        <p:nvSpPr>
          <p:cNvPr id="20" name="Shape 18"/>
          <p:cNvSpPr/>
          <p:nvPr/>
        </p:nvSpPr>
        <p:spPr>
          <a:xfrm>
            <a:off x="7257136" y="2697480"/>
            <a:ext cx="2103120" cy="914400"/>
          </a:xfrm>
          <a:prstGeom prst="rect">
            <a:avLst/>
          </a:prstGeom>
          <a:solidFill>
            <a:srgbClr val="4F6BFF"/>
          </a:solidFill>
          <a:ln/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257136" y="27889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257136" y="2990088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3600" dirty="0"/>
          </a:p>
        </p:txBody>
      </p:sp>
      <p:sp>
        <p:nvSpPr>
          <p:cNvPr id="23" name="Shape 21"/>
          <p:cNvSpPr/>
          <p:nvPr/>
        </p:nvSpPr>
        <p:spPr>
          <a:xfrm>
            <a:off x="9469984" y="2697480"/>
            <a:ext cx="2103120" cy="914400"/>
          </a:xfrm>
          <a:prstGeom prst="rect">
            <a:avLst/>
          </a:prstGeom>
          <a:solidFill>
            <a:srgbClr val="1A2853"/>
          </a:solidFill>
          <a:ln/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9469984" y="27889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469984" y="2990088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3600" dirty="0"/>
          </a:p>
        </p:txBody>
      </p:sp>
      <p:sp>
        <p:nvSpPr>
          <p:cNvPr id="26" name="Text 24"/>
          <p:cNvSpPr/>
          <p:nvPr/>
        </p:nvSpPr>
        <p:spPr>
          <a:xfrm>
            <a:off x="548640" y="3794760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5E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 +  HIGH  —  what to fix first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8640" y="4160520"/>
            <a:ext cx="5440680" cy="329184"/>
          </a:xfrm>
          <a:prstGeom prst="rect">
            <a:avLst/>
          </a:prstGeom>
          <a:solidFill>
            <a:srgbClr val="111E40"/>
          </a:solidFill>
          <a:ln/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548640" y="4160520"/>
            <a:ext cx="54864" cy="32918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9" name="Shape 27"/>
          <p:cNvSpPr/>
          <p:nvPr/>
        </p:nvSpPr>
        <p:spPr>
          <a:xfrm>
            <a:off x="713232" y="4215384"/>
            <a:ext cx="640080" cy="219456"/>
          </a:xfrm>
          <a:prstGeom prst="roundRect">
            <a:avLst>
              <a:gd name="adj" fmla="val 16667"/>
            </a:avLst>
          </a:prstGeom>
          <a:solidFill>
            <a:srgbClr val="EF4444"/>
          </a:solidFill>
          <a:ln/>
        </p:spPr>
      </p:sp>
      <p:sp>
        <p:nvSpPr>
          <p:cNvPr id="30" name="Text 28"/>
          <p:cNvSpPr/>
          <p:nvPr/>
        </p:nvSpPr>
        <p:spPr>
          <a:xfrm>
            <a:off x="713232" y="421538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1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417320" y="4160520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7D2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TC-API-204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651760" y="4160520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injection in email field bypasses auth on default Juice Shop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217920" y="4160520"/>
            <a:ext cx="5440680" cy="329184"/>
          </a:xfrm>
          <a:prstGeom prst="rect">
            <a:avLst/>
          </a:prstGeom>
          <a:solidFill>
            <a:srgbClr val="111E40"/>
          </a:solidFill>
          <a:ln/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6217920" y="4160520"/>
            <a:ext cx="54864" cy="32918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35" name="Shape 33"/>
          <p:cNvSpPr/>
          <p:nvPr/>
        </p:nvSpPr>
        <p:spPr>
          <a:xfrm>
            <a:off x="6382512" y="4215384"/>
            <a:ext cx="640080" cy="219456"/>
          </a:xfrm>
          <a:prstGeom prst="roundRect">
            <a:avLst>
              <a:gd name="adj" fmla="val 16667"/>
            </a:avLst>
          </a:prstGeom>
          <a:solidFill>
            <a:srgbClr val="EF4444"/>
          </a:solidFill>
          <a:ln/>
        </p:spPr>
      </p:sp>
      <p:sp>
        <p:nvSpPr>
          <p:cNvPr id="36" name="Text 34"/>
          <p:cNvSpPr/>
          <p:nvPr/>
        </p:nvSpPr>
        <p:spPr>
          <a:xfrm>
            <a:off x="6382512" y="421538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1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7086600" y="4160520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7D2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TC-UI-120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8321040" y="4160520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SQL-injection email comment bypass logs in on default Juice Shop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548640" y="4544568"/>
            <a:ext cx="5440680" cy="329184"/>
          </a:xfrm>
          <a:prstGeom prst="rect">
            <a:avLst/>
          </a:prstGeom>
          <a:solidFill>
            <a:srgbClr val="111E40"/>
          </a:solidFill>
          <a:ln/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548640" y="4544568"/>
            <a:ext cx="54864" cy="32918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1" name="Shape 39"/>
          <p:cNvSpPr/>
          <p:nvPr/>
        </p:nvSpPr>
        <p:spPr>
          <a:xfrm>
            <a:off x="713232" y="4599432"/>
            <a:ext cx="640080" cy="219456"/>
          </a:xfrm>
          <a:prstGeom prst="roundRect">
            <a:avLst>
              <a:gd name="adj" fmla="val 16667"/>
            </a:avLst>
          </a:prstGeom>
          <a:solidFill>
            <a:srgbClr val="F97316"/>
          </a:solidFill>
          <a:ln/>
        </p:spPr>
      </p:sp>
      <p:sp>
        <p:nvSpPr>
          <p:cNvPr id="42" name="Text 40"/>
          <p:cNvSpPr/>
          <p:nvPr/>
        </p:nvSpPr>
        <p:spPr>
          <a:xfrm>
            <a:off x="713232" y="4599432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1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1417320" y="4544568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7D2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TC-API-1001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2651760" y="4544568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/api/Deliverys is reachable without authentication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6217920" y="4544568"/>
            <a:ext cx="5440680" cy="329184"/>
          </a:xfrm>
          <a:prstGeom prst="rect">
            <a:avLst/>
          </a:prstGeom>
          <a:solidFill>
            <a:srgbClr val="111E40"/>
          </a:solidFill>
          <a:ln/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6217920" y="4544568"/>
            <a:ext cx="54864" cy="32918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7" name="Shape 45"/>
          <p:cNvSpPr/>
          <p:nvPr/>
        </p:nvSpPr>
        <p:spPr>
          <a:xfrm>
            <a:off x="6382512" y="4599432"/>
            <a:ext cx="640080" cy="219456"/>
          </a:xfrm>
          <a:prstGeom prst="roundRect">
            <a:avLst>
              <a:gd name="adj" fmla="val 16667"/>
            </a:avLst>
          </a:prstGeom>
          <a:solidFill>
            <a:srgbClr val="F97316"/>
          </a:solidFill>
          <a:ln/>
        </p:spPr>
      </p:sp>
      <p:sp>
        <p:nvSpPr>
          <p:cNvPr id="48" name="Text 46"/>
          <p:cNvSpPr/>
          <p:nvPr/>
        </p:nvSpPr>
        <p:spPr>
          <a:xfrm>
            <a:off x="6382512" y="4599432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1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7086600" y="4544568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7D2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TC-API-153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8321040" y="4544568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 /api/Cards/{id} crashes with 500 instead of returning 405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548640" y="4928616"/>
            <a:ext cx="5440680" cy="329184"/>
          </a:xfrm>
          <a:prstGeom prst="rect">
            <a:avLst/>
          </a:prstGeom>
          <a:solidFill>
            <a:srgbClr val="111E40"/>
          </a:solidFill>
          <a:ln/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548640" y="4928616"/>
            <a:ext cx="54864" cy="32918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53" name="Shape 51"/>
          <p:cNvSpPr/>
          <p:nvPr/>
        </p:nvSpPr>
        <p:spPr>
          <a:xfrm>
            <a:off x="713232" y="4983480"/>
            <a:ext cx="640080" cy="219456"/>
          </a:xfrm>
          <a:prstGeom prst="roundRect">
            <a:avLst>
              <a:gd name="adj" fmla="val 16667"/>
            </a:avLst>
          </a:prstGeom>
          <a:solidFill>
            <a:srgbClr val="F97316"/>
          </a:solidFill>
          <a:ln/>
        </p:spPr>
      </p:sp>
      <p:sp>
        <p:nvSpPr>
          <p:cNvPr id="54" name="Text 52"/>
          <p:cNvSpPr/>
          <p:nvPr/>
        </p:nvSpPr>
        <p:spPr>
          <a:xfrm>
            <a:off x="713232" y="4983480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1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1417320" y="4928616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7D2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TC-API-168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2651760" y="4928616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Array as password crashes the server with 500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6217920" y="4928616"/>
            <a:ext cx="5440680" cy="329184"/>
          </a:xfrm>
          <a:prstGeom prst="rect">
            <a:avLst/>
          </a:prstGeom>
          <a:solidFill>
            <a:srgbClr val="111E40"/>
          </a:solidFill>
          <a:ln/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58" name="Shape 56"/>
          <p:cNvSpPr/>
          <p:nvPr/>
        </p:nvSpPr>
        <p:spPr>
          <a:xfrm>
            <a:off x="6217920" y="4928616"/>
            <a:ext cx="54864" cy="32918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59" name="Shape 57"/>
          <p:cNvSpPr/>
          <p:nvPr/>
        </p:nvSpPr>
        <p:spPr>
          <a:xfrm>
            <a:off x="6382512" y="4983480"/>
            <a:ext cx="640080" cy="219456"/>
          </a:xfrm>
          <a:prstGeom prst="roundRect">
            <a:avLst>
              <a:gd name="adj" fmla="val 16667"/>
            </a:avLst>
          </a:prstGeom>
          <a:solidFill>
            <a:srgbClr val="F97316"/>
          </a:solidFill>
          <a:ln/>
        </p:spPr>
      </p:sp>
      <p:sp>
        <p:nvSpPr>
          <p:cNvPr id="60" name="Text 58"/>
          <p:cNvSpPr/>
          <p:nvPr/>
        </p:nvSpPr>
        <p:spPr>
          <a:xfrm>
            <a:off x="6382512" y="4983480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1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7086600" y="4928616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7D2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TC-API-904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8321040" y="4928616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/api/Recycles/{id} returns ALL recycles, not just the requested id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548640" y="5312664"/>
            <a:ext cx="5440680" cy="329184"/>
          </a:xfrm>
          <a:prstGeom prst="rect">
            <a:avLst/>
          </a:prstGeom>
          <a:solidFill>
            <a:srgbClr val="111E40"/>
          </a:solidFill>
          <a:ln/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64" name="Shape 62"/>
          <p:cNvSpPr/>
          <p:nvPr/>
        </p:nvSpPr>
        <p:spPr>
          <a:xfrm>
            <a:off x="548640" y="5312664"/>
            <a:ext cx="54864" cy="32918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65" name="Shape 63"/>
          <p:cNvSpPr/>
          <p:nvPr/>
        </p:nvSpPr>
        <p:spPr>
          <a:xfrm>
            <a:off x="713232" y="5367528"/>
            <a:ext cx="640080" cy="219456"/>
          </a:xfrm>
          <a:prstGeom prst="roundRect">
            <a:avLst>
              <a:gd name="adj" fmla="val 16667"/>
            </a:avLst>
          </a:prstGeom>
          <a:solidFill>
            <a:srgbClr val="F97316"/>
          </a:solidFill>
          <a:ln/>
        </p:spPr>
      </p:sp>
      <p:sp>
        <p:nvSpPr>
          <p:cNvPr id="66" name="Text 64"/>
          <p:cNvSpPr/>
          <p:nvPr/>
        </p:nvSpPr>
        <p:spPr>
          <a:xfrm>
            <a:off x="713232" y="5367528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1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1417320" y="5312664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7D2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TC-API-1301</a:t>
            </a:r>
            <a:endParaRPr lang="en-US" sz="900" dirty="0"/>
          </a:p>
        </p:txBody>
      </p:sp>
      <p:sp>
        <p:nvSpPr>
          <p:cNvPr id="68" name="Text 66"/>
          <p:cNvSpPr/>
          <p:nvPr/>
        </p:nvSpPr>
        <p:spPr>
          <a:xfrm>
            <a:off x="2651760" y="5312664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Complaint stored with UserId = null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6217920" y="5312664"/>
            <a:ext cx="5440680" cy="329184"/>
          </a:xfrm>
          <a:prstGeom prst="rect">
            <a:avLst/>
          </a:prstGeom>
          <a:solidFill>
            <a:srgbClr val="111E40"/>
          </a:solidFill>
          <a:ln/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70" name="Shape 68"/>
          <p:cNvSpPr/>
          <p:nvPr/>
        </p:nvSpPr>
        <p:spPr>
          <a:xfrm>
            <a:off x="6217920" y="5312664"/>
            <a:ext cx="54864" cy="32918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71" name="Shape 69"/>
          <p:cNvSpPr/>
          <p:nvPr/>
        </p:nvSpPr>
        <p:spPr>
          <a:xfrm>
            <a:off x="6382512" y="5367528"/>
            <a:ext cx="640080" cy="219456"/>
          </a:xfrm>
          <a:prstGeom prst="roundRect">
            <a:avLst>
              <a:gd name="adj" fmla="val 16667"/>
            </a:avLst>
          </a:prstGeom>
          <a:solidFill>
            <a:srgbClr val="F97316"/>
          </a:solidFill>
          <a:ln/>
        </p:spPr>
      </p:sp>
      <p:sp>
        <p:nvSpPr>
          <p:cNvPr id="72" name="Text 70"/>
          <p:cNvSpPr/>
          <p:nvPr/>
        </p:nvSpPr>
        <p:spPr>
          <a:xfrm>
            <a:off x="6382512" y="5367528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1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</a:t>
            </a:r>
            <a:endParaRPr lang="en-US" sz="1000" dirty="0"/>
          </a:p>
        </p:txBody>
      </p:sp>
      <p:sp>
        <p:nvSpPr>
          <p:cNvPr id="73" name="Text 71"/>
          <p:cNvSpPr/>
          <p:nvPr/>
        </p:nvSpPr>
        <p:spPr>
          <a:xfrm>
            <a:off x="7086600" y="5312664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7D2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TC-API-1621</a:t>
            </a:r>
            <a:endParaRPr lang="en-US" sz="900" dirty="0"/>
          </a:p>
        </p:txBody>
      </p:sp>
      <p:sp>
        <p:nvSpPr>
          <p:cNvPr id="74" name="Text 72"/>
          <p:cNvSpPr/>
          <p:nvPr/>
        </p:nvSpPr>
        <p:spPr>
          <a:xfrm>
            <a:off x="8321040" y="5312664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Another user can checkout the assignment user's basket (BOLA)</a:t>
            </a:r>
            <a:endParaRPr lang="en-US" sz="950" dirty="0"/>
          </a:p>
        </p:txBody>
      </p:sp>
      <p:sp>
        <p:nvSpPr>
          <p:cNvPr id="75" name="Shape 73"/>
          <p:cNvSpPr/>
          <p:nvPr/>
        </p:nvSpPr>
        <p:spPr>
          <a:xfrm>
            <a:off x="548640" y="5696712"/>
            <a:ext cx="5440680" cy="329184"/>
          </a:xfrm>
          <a:prstGeom prst="rect">
            <a:avLst/>
          </a:prstGeom>
          <a:solidFill>
            <a:srgbClr val="111E40"/>
          </a:solidFill>
          <a:ln/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76" name="Shape 74"/>
          <p:cNvSpPr/>
          <p:nvPr/>
        </p:nvSpPr>
        <p:spPr>
          <a:xfrm>
            <a:off x="548640" y="5696712"/>
            <a:ext cx="54864" cy="32918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77" name="Shape 75"/>
          <p:cNvSpPr/>
          <p:nvPr/>
        </p:nvSpPr>
        <p:spPr>
          <a:xfrm>
            <a:off x="713232" y="5751576"/>
            <a:ext cx="640080" cy="219456"/>
          </a:xfrm>
          <a:prstGeom prst="roundRect">
            <a:avLst>
              <a:gd name="adj" fmla="val 16667"/>
            </a:avLst>
          </a:prstGeom>
          <a:solidFill>
            <a:srgbClr val="F97316"/>
          </a:solidFill>
          <a:ln/>
        </p:spPr>
      </p:sp>
      <p:sp>
        <p:nvSpPr>
          <p:cNvPr id="78" name="Text 76"/>
          <p:cNvSpPr/>
          <p:nvPr/>
        </p:nvSpPr>
        <p:spPr>
          <a:xfrm>
            <a:off x="713232" y="5751576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1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</a:t>
            </a:r>
            <a:endParaRPr lang="en-US" sz="1000" dirty="0"/>
          </a:p>
        </p:txBody>
      </p:sp>
      <p:sp>
        <p:nvSpPr>
          <p:cNvPr id="79" name="Text 77"/>
          <p:cNvSpPr/>
          <p:nvPr/>
        </p:nvSpPr>
        <p:spPr>
          <a:xfrm>
            <a:off x="1417320" y="5696712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7D2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TC-API-901</a:t>
            </a:r>
            <a:endParaRPr lang="en-US" sz="900" dirty="0"/>
          </a:p>
        </p:txBody>
      </p:sp>
      <p:sp>
        <p:nvSpPr>
          <p:cNvPr id="80" name="Text 78"/>
          <p:cNvSpPr/>
          <p:nvPr/>
        </p:nvSpPr>
        <p:spPr>
          <a:xfrm>
            <a:off x="2651760" y="5696712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Recycle request is created with UserId = null</a:t>
            </a:r>
            <a:endParaRPr lang="en-US" sz="950" dirty="0"/>
          </a:p>
        </p:txBody>
      </p:sp>
      <p:sp>
        <p:nvSpPr>
          <p:cNvPr id="81" name="Shape 79"/>
          <p:cNvSpPr/>
          <p:nvPr/>
        </p:nvSpPr>
        <p:spPr>
          <a:xfrm>
            <a:off x="6217920" y="5696712"/>
            <a:ext cx="5440680" cy="329184"/>
          </a:xfrm>
          <a:prstGeom prst="rect">
            <a:avLst/>
          </a:prstGeom>
          <a:solidFill>
            <a:srgbClr val="111E40"/>
          </a:solidFill>
          <a:ln/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82" name="Shape 80"/>
          <p:cNvSpPr/>
          <p:nvPr/>
        </p:nvSpPr>
        <p:spPr>
          <a:xfrm>
            <a:off x="6217920" y="5696712"/>
            <a:ext cx="54864" cy="32918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83" name="Shape 81"/>
          <p:cNvSpPr/>
          <p:nvPr/>
        </p:nvSpPr>
        <p:spPr>
          <a:xfrm>
            <a:off x="6382512" y="5751576"/>
            <a:ext cx="640080" cy="219456"/>
          </a:xfrm>
          <a:prstGeom prst="roundRect">
            <a:avLst>
              <a:gd name="adj" fmla="val 16667"/>
            </a:avLst>
          </a:prstGeom>
          <a:solidFill>
            <a:srgbClr val="F97316"/>
          </a:solidFill>
          <a:ln/>
        </p:spPr>
      </p:sp>
      <p:sp>
        <p:nvSpPr>
          <p:cNvPr id="84" name="Text 82"/>
          <p:cNvSpPr/>
          <p:nvPr/>
        </p:nvSpPr>
        <p:spPr>
          <a:xfrm>
            <a:off x="6382512" y="5751576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1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</a:t>
            </a:r>
            <a:endParaRPr lang="en-US" sz="1000" dirty="0"/>
          </a:p>
        </p:txBody>
      </p:sp>
      <p:sp>
        <p:nvSpPr>
          <p:cNvPr id="85" name="Text 83"/>
          <p:cNvSpPr/>
          <p:nvPr/>
        </p:nvSpPr>
        <p:spPr>
          <a:xfrm>
            <a:off x="7086600" y="5696712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7D2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TC-UI-720</a:t>
            </a:r>
            <a:endParaRPr lang="en-US" sz="900" dirty="0"/>
          </a:p>
        </p:txBody>
      </p:sp>
      <p:sp>
        <p:nvSpPr>
          <p:cNvPr id="86" name="Text 84"/>
          <p:cNvSpPr/>
          <p:nvPr/>
        </p:nvSpPr>
        <p:spPr>
          <a:xfrm>
            <a:off x="8321040" y="5696712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/address/select is reachable without auth on default Juice Shop</a:t>
            </a:r>
            <a:endParaRPr lang="en-US" sz="950" dirty="0"/>
          </a:p>
        </p:txBody>
      </p:sp>
      <p:sp>
        <p:nvSpPr>
          <p:cNvPr id="87" name="Text 85"/>
          <p:cNvSpPr/>
          <p:nvPr/>
        </p:nvSpPr>
        <p:spPr>
          <a:xfrm>
            <a:off x="548640" y="62636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E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register  ·  7 Medium + 16 Low + repro / impact / fix-sketch  →  docs/SECURITY-FINDINGS.md  ·  JuiceShop-TestCases.xlsx → tab Bugs Found</a:t>
            </a:r>
            <a:endParaRPr lang="en-US" sz="1050" dirty="0"/>
          </a:p>
        </p:txBody>
      </p:sp>
      <p:sp>
        <p:nvSpPr>
          <p:cNvPr id="88" name="Shape 86"/>
          <p:cNvSpPr/>
          <p:nvPr/>
        </p:nvSpPr>
        <p:spPr>
          <a:xfrm>
            <a:off x="548640" y="6446520"/>
            <a:ext cx="11094415" cy="0"/>
          </a:xfrm>
          <a:prstGeom prst="line">
            <a:avLst/>
          </a:prstGeom>
          <a:noFill/>
          <a:ln w="9525">
            <a:solidFill>
              <a:srgbClr val="1F2D5C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548640" y="6492240"/>
            <a:ext cx="7619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18  ·  Bugs found  ·  33 active</a:t>
            </a:r>
            <a:endParaRPr lang="en-US" sz="900" dirty="0"/>
          </a:p>
        </p:txBody>
      </p:sp>
      <p:sp>
        <p:nvSpPr>
          <p:cNvPr id="90" name="Text 88"/>
          <p:cNvSpPr/>
          <p:nvPr/>
        </p:nvSpPr>
        <p:spPr>
          <a:xfrm>
            <a:off x="4572000" y="6492240"/>
            <a:ext cx="7071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EVERSTAGE QA ASSESSMENT  ·  ASHIK MOHAMED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A1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F6B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6304"/>
            <a:ext cx="12191695" cy="36576"/>
          </a:xfrm>
          <a:prstGeom prst="rect">
            <a:avLst/>
          </a:prstGeom>
          <a:solidFill>
            <a:srgbClr val="5EE7FF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411480"/>
            <a:ext cx="164592" cy="164592"/>
          </a:xfrm>
          <a:prstGeom prst="ellipse">
            <a:avLst/>
          </a:prstGeom>
          <a:solidFill>
            <a:srgbClr val="4F6BFF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3840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Everstage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094415" y="38404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960120"/>
            <a:ext cx="457200" cy="54864"/>
          </a:xfrm>
          <a:prstGeom prst="rect">
            <a:avLst/>
          </a:prstGeom>
          <a:solidFill>
            <a:srgbClr val="4F6BF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86868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5E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10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12344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548640" y="2121408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I'd add with more time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2880360"/>
            <a:ext cx="502920" cy="502920"/>
          </a:xfrm>
          <a:prstGeom prst="ellipse">
            <a:avLst/>
          </a:prstGeom>
          <a:solidFill>
            <a:srgbClr val="4F6BFF"/>
          </a:solidFill>
          <a:ln/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2880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188720" y="2834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regression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188720" y="32004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Playwright snapshot testing on key pages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880360"/>
            <a:ext cx="502920" cy="502920"/>
          </a:xfrm>
          <a:prstGeom prst="ellipse">
            <a:avLst/>
          </a:prstGeom>
          <a:solidFill>
            <a:srgbClr val="4F6BFF"/>
          </a:solidFill>
          <a:ln/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217920" y="2880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858000" y="2834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Accessibility scan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858000" y="32004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axe-core integration on every spec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3749040"/>
            <a:ext cx="502920" cy="502920"/>
          </a:xfrm>
          <a:prstGeom prst="ellipse">
            <a:avLst/>
          </a:prstGeom>
          <a:solidFill>
            <a:srgbClr val="4F6BFF"/>
          </a:solidFill>
          <a:ln/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3749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188720" y="37033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storageState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188720" y="40690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6× throughput on non-Task-1 specs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217920" y="3749040"/>
            <a:ext cx="502920" cy="502920"/>
          </a:xfrm>
          <a:prstGeom prst="ellipse">
            <a:avLst/>
          </a:prstGeom>
          <a:solidFill>
            <a:srgbClr val="4F6BFF"/>
          </a:solidFill>
          <a:ln/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217920" y="3749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858000" y="37033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Per-worker user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858000" y="40690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parallel safety at scale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8640" y="4617720"/>
            <a:ext cx="502920" cy="502920"/>
          </a:xfrm>
          <a:prstGeom prst="ellipse">
            <a:avLst/>
          </a:prstGeom>
          <a:solidFill>
            <a:srgbClr val="4F6BFF"/>
          </a:solidFill>
          <a:ln/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4617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1188720" y="45720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Mutation testing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188720" y="493776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Stryker on the helpers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217920" y="4617720"/>
            <a:ext cx="502920" cy="502920"/>
          </a:xfrm>
          <a:prstGeom prst="ellipse">
            <a:avLst/>
          </a:prstGeom>
          <a:solidFill>
            <a:srgbClr val="4F6BFF"/>
          </a:solidFill>
          <a:ln/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217920" y="4617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6858000" y="45720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Pact contract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858000" y="493776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the API schema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48640" y="5486400"/>
            <a:ext cx="502920" cy="502920"/>
          </a:xfrm>
          <a:prstGeom prst="ellipse">
            <a:avLst/>
          </a:prstGeom>
          <a:solidFill>
            <a:srgbClr val="4F6BFF"/>
          </a:solidFill>
          <a:ln/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548640" y="5486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1188720" y="5440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Lighthouse perf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1188720" y="58064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Web Vitals on home / payments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217920" y="5486400"/>
            <a:ext cx="502920" cy="502920"/>
          </a:xfrm>
          <a:prstGeom prst="ellipse">
            <a:avLst/>
          </a:prstGeom>
          <a:solidFill>
            <a:srgbClr val="4F6BFF"/>
          </a:solidFill>
          <a:ln/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6217920" y="5486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6858000" y="5440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Cross-browser CI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6858000" y="58064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Firefox + WebKit nightly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48640" y="62636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E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Sequenced, not forgotten.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548640" y="6446520"/>
            <a:ext cx="11094415" cy="0"/>
          </a:xfrm>
          <a:prstGeom prst="line">
            <a:avLst/>
          </a:prstGeom>
          <a:noFill/>
          <a:ln w="9525">
            <a:solidFill>
              <a:srgbClr val="1F2D5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48640" y="6492240"/>
            <a:ext cx="7619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19  ·  Roadmap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572000" y="6492240"/>
            <a:ext cx="7071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EVERSTAGE QA ASSESSMENT  ·  ASHIK MOHAMED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A1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F6B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6304"/>
            <a:ext cx="12191695" cy="36576"/>
          </a:xfrm>
          <a:prstGeom prst="rect">
            <a:avLst/>
          </a:prstGeom>
          <a:solidFill>
            <a:srgbClr val="5EE7FF"/>
          </a:solidFill>
          <a:ln/>
        </p:spPr>
      </p:sp>
      <p:sp>
        <p:nvSpPr>
          <p:cNvPr id="4" name="Shape 2"/>
          <p:cNvSpPr/>
          <p:nvPr/>
        </p:nvSpPr>
        <p:spPr>
          <a:xfrm>
            <a:off x="7619695" y="0"/>
            <a:ext cx="4572000" cy="6858000"/>
          </a:xfrm>
          <a:prstGeom prst="rect">
            <a:avLst/>
          </a:prstGeom>
          <a:solidFill>
            <a:srgbClr val="111E40">
              <a:alpha val="7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643055" y="0"/>
            <a:ext cx="548640" cy="6858000"/>
          </a:xfrm>
          <a:prstGeom prst="rect">
            <a:avLst/>
          </a:prstGeom>
          <a:solidFill>
            <a:srgbClr val="4F6BFF"/>
          </a:solidFill>
          <a:ln/>
        </p:spPr>
      </p:sp>
      <p:sp>
        <p:nvSpPr>
          <p:cNvPr id="6" name="Shape 4"/>
          <p:cNvSpPr/>
          <p:nvPr/>
        </p:nvSpPr>
        <p:spPr>
          <a:xfrm>
            <a:off x="8168335" y="822960"/>
            <a:ext cx="54864" cy="54864"/>
          </a:xfrm>
          <a:prstGeom prst="ellipse">
            <a:avLst/>
          </a:prstGeom>
          <a:solidFill>
            <a:srgbClr val="5EE7FF">
              <a:alpha val="5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8534095" y="822960"/>
            <a:ext cx="54864" cy="54864"/>
          </a:xfrm>
          <a:prstGeom prst="ellipse">
            <a:avLst/>
          </a:prstGeom>
          <a:solidFill>
            <a:srgbClr val="5EE7FF">
              <a:alpha val="5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8899855" y="822960"/>
            <a:ext cx="54864" cy="54864"/>
          </a:xfrm>
          <a:prstGeom prst="ellipse">
            <a:avLst/>
          </a:prstGeom>
          <a:solidFill>
            <a:srgbClr val="5EE7FF">
              <a:alpha val="5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9265615" y="822960"/>
            <a:ext cx="54864" cy="54864"/>
          </a:xfrm>
          <a:prstGeom prst="ellipse">
            <a:avLst/>
          </a:prstGeom>
          <a:solidFill>
            <a:srgbClr val="5EE7FF">
              <a:alpha val="5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9631375" y="822960"/>
            <a:ext cx="54864" cy="54864"/>
          </a:xfrm>
          <a:prstGeom prst="ellipse">
            <a:avLst/>
          </a:prstGeom>
          <a:solidFill>
            <a:srgbClr val="5EE7FF">
              <a:alpha val="5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168335" y="1188720"/>
            <a:ext cx="54864" cy="54864"/>
          </a:xfrm>
          <a:prstGeom prst="ellipse">
            <a:avLst/>
          </a:prstGeom>
          <a:solidFill>
            <a:srgbClr val="5EE7FF">
              <a:alpha val="5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8534095" y="1188720"/>
            <a:ext cx="54864" cy="54864"/>
          </a:xfrm>
          <a:prstGeom prst="ellipse">
            <a:avLst/>
          </a:prstGeom>
          <a:solidFill>
            <a:srgbClr val="5EE7FF">
              <a:alpha val="5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8899855" y="1188720"/>
            <a:ext cx="54864" cy="54864"/>
          </a:xfrm>
          <a:prstGeom prst="ellipse">
            <a:avLst/>
          </a:prstGeom>
          <a:solidFill>
            <a:srgbClr val="5EE7FF">
              <a:alpha val="5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9265615" y="1188720"/>
            <a:ext cx="54864" cy="54864"/>
          </a:xfrm>
          <a:prstGeom prst="ellipse">
            <a:avLst/>
          </a:prstGeom>
          <a:solidFill>
            <a:srgbClr val="5EE7FF">
              <a:alpha val="5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9631375" y="1188720"/>
            <a:ext cx="54864" cy="54864"/>
          </a:xfrm>
          <a:prstGeom prst="ellipse">
            <a:avLst/>
          </a:prstGeom>
          <a:solidFill>
            <a:srgbClr val="5EE7FF">
              <a:alpha val="50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8168335" y="1554480"/>
            <a:ext cx="54864" cy="54864"/>
          </a:xfrm>
          <a:prstGeom prst="ellipse">
            <a:avLst/>
          </a:prstGeom>
          <a:solidFill>
            <a:srgbClr val="5EE7FF">
              <a:alpha val="50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8534095" y="1554480"/>
            <a:ext cx="54864" cy="54864"/>
          </a:xfrm>
          <a:prstGeom prst="ellipse">
            <a:avLst/>
          </a:prstGeom>
          <a:solidFill>
            <a:srgbClr val="5EE7FF">
              <a:alpha val="50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8899855" y="1554480"/>
            <a:ext cx="54864" cy="54864"/>
          </a:xfrm>
          <a:prstGeom prst="ellipse">
            <a:avLst/>
          </a:prstGeom>
          <a:solidFill>
            <a:srgbClr val="5EE7FF">
              <a:alpha val="50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9265615" y="1554480"/>
            <a:ext cx="54864" cy="54864"/>
          </a:xfrm>
          <a:prstGeom prst="ellipse">
            <a:avLst/>
          </a:prstGeom>
          <a:solidFill>
            <a:srgbClr val="5EE7FF">
              <a:alpha val="50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9631375" y="1554480"/>
            <a:ext cx="54864" cy="54864"/>
          </a:xfrm>
          <a:prstGeom prst="ellipse">
            <a:avLst/>
          </a:prstGeom>
          <a:solidFill>
            <a:srgbClr val="5EE7FF">
              <a:alpha val="50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8168335" y="1920240"/>
            <a:ext cx="54864" cy="54864"/>
          </a:xfrm>
          <a:prstGeom prst="ellipse">
            <a:avLst/>
          </a:prstGeom>
          <a:solidFill>
            <a:srgbClr val="5EE7FF">
              <a:alpha val="50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8534095" y="1920240"/>
            <a:ext cx="54864" cy="54864"/>
          </a:xfrm>
          <a:prstGeom prst="ellipse">
            <a:avLst/>
          </a:prstGeom>
          <a:solidFill>
            <a:srgbClr val="5EE7FF">
              <a:alpha val="50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8899855" y="1920240"/>
            <a:ext cx="54864" cy="54864"/>
          </a:xfrm>
          <a:prstGeom prst="ellipse">
            <a:avLst/>
          </a:prstGeom>
          <a:solidFill>
            <a:srgbClr val="5EE7FF">
              <a:alpha val="5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9265615" y="1920240"/>
            <a:ext cx="54864" cy="54864"/>
          </a:xfrm>
          <a:prstGeom prst="ellipse">
            <a:avLst/>
          </a:prstGeom>
          <a:solidFill>
            <a:srgbClr val="5EE7FF">
              <a:alpha val="50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9631375" y="1920240"/>
            <a:ext cx="54864" cy="54864"/>
          </a:xfrm>
          <a:prstGeom prst="ellipse">
            <a:avLst/>
          </a:prstGeom>
          <a:solidFill>
            <a:srgbClr val="5EE7FF">
              <a:alpha val="50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8168335" y="2286000"/>
            <a:ext cx="54864" cy="54864"/>
          </a:xfrm>
          <a:prstGeom prst="ellipse">
            <a:avLst/>
          </a:prstGeom>
          <a:solidFill>
            <a:srgbClr val="5EE7FF">
              <a:alpha val="50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8534095" y="2286000"/>
            <a:ext cx="54864" cy="54864"/>
          </a:xfrm>
          <a:prstGeom prst="ellipse">
            <a:avLst/>
          </a:prstGeom>
          <a:solidFill>
            <a:srgbClr val="5EE7FF">
              <a:alpha val="50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8899855" y="2286000"/>
            <a:ext cx="54864" cy="54864"/>
          </a:xfrm>
          <a:prstGeom prst="ellipse">
            <a:avLst/>
          </a:prstGeom>
          <a:solidFill>
            <a:srgbClr val="5EE7FF">
              <a:alpha val="50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9265615" y="2286000"/>
            <a:ext cx="54864" cy="54864"/>
          </a:xfrm>
          <a:prstGeom prst="ellipse">
            <a:avLst/>
          </a:prstGeom>
          <a:solidFill>
            <a:srgbClr val="5EE7FF">
              <a:alpha val="50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9631375" y="2286000"/>
            <a:ext cx="54864" cy="54864"/>
          </a:xfrm>
          <a:prstGeom prst="ellipse">
            <a:avLst/>
          </a:prstGeom>
          <a:solidFill>
            <a:srgbClr val="5EE7FF">
              <a:alpha val="50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822960" y="822960"/>
            <a:ext cx="292608" cy="292608"/>
          </a:xfrm>
          <a:prstGeom prst="ellipse">
            <a:avLst/>
          </a:prstGeom>
          <a:solidFill>
            <a:srgbClr val="4F6BFF"/>
          </a:solidFill>
          <a:ln/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1188720" y="7772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100" kern="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Everstage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822960" y="16916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200" kern="0" dirty="0">
                <a:solidFill>
                  <a:srgbClr val="5E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822960" y="210312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 — feedback &amp; Q&amp;A</a:t>
            </a:r>
            <a:endParaRPr lang="en-US" sz="4800" dirty="0"/>
          </a:p>
        </p:txBody>
      </p:sp>
      <p:sp>
        <p:nvSpPr>
          <p:cNvPr id="35" name="Shape 33"/>
          <p:cNvSpPr/>
          <p:nvPr/>
        </p:nvSpPr>
        <p:spPr>
          <a:xfrm>
            <a:off x="822960" y="3291840"/>
            <a:ext cx="6400800" cy="3017520"/>
          </a:xfrm>
          <a:prstGeom prst="rect">
            <a:avLst/>
          </a:prstGeom>
          <a:solidFill>
            <a:srgbClr val="1A2853">
              <a:alpha val="65000"/>
            </a:srgbClr>
          </a:solidFill>
          <a:ln/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822960" y="3291840"/>
            <a:ext cx="54864" cy="3017520"/>
          </a:xfrm>
          <a:prstGeom prst="rect">
            <a:avLst/>
          </a:prstGeom>
          <a:solidFill>
            <a:srgbClr val="5EE7FF"/>
          </a:solidFill>
          <a:ln/>
        </p:spPr>
      </p:sp>
      <p:sp>
        <p:nvSpPr>
          <p:cNvPr id="37" name="Text 35"/>
          <p:cNvSpPr/>
          <p:nvPr/>
        </p:nvSpPr>
        <p:spPr>
          <a:xfrm>
            <a:off x="1051560" y="347472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5E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 WELCOME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1051560" y="374904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things I'd love your read on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1051560" y="4343400"/>
            <a:ext cx="329184" cy="329184"/>
          </a:xfrm>
          <a:prstGeom prst="ellipse">
            <a:avLst/>
          </a:prstGeom>
          <a:solidFill>
            <a:srgbClr val="4F6BFF"/>
          </a:solidFill>
          <a:ln/>
        </p:spPr>
      </p:sp>
      <p:sp>
        <p:nvSpPr>
          <p:cNvPr id="40" name="Text 38"/>
          <p:cNvSpPr/>
          <p:nvPr/>
        </p:nvSpPr>
        <p:spPr>
          <a:xfrm>
            <a:off x="1051560" y="43434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1508760" y="42519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Locator strategy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1508760" y="45445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the 4-tier hierarchy land?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1051560" y="4983480"/>
            <a:ext cx="329184" cy="329184"/>
          </a:xfrm>
          <a:prstGeom prst="ellipse">
            <a:avLst/>
          </a:prstGeom>
          <a:solidFill>
            <a:srgbClr val="4F6BFF"/>
          </a:solidFill>
          <a:ln/>
        </p:spPr>
      </p:sp>
      <p:sp>
        <p:nvSpPr>
          <p:cNvPr id="44" name="Text 42"/>
          <p:cNvSpPr/>
          <p:nvPr/>
        </p:nvSpPr>
        <p:spPr>
          <a:xfrm>
            <a:off x="1051560" y="49834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1508760" y="48920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Senior-signal tests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1508760" y="51846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the Everstage parallels hit?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051560" y="5623560"/>
            <a:ext cx="329184" cy="329184"/>
          </a:xfrm>
          <a:prstGeom prst="ellipse">
            <a:avLst/>
          </a:prstGeom>
          <a:solidFill>
            <a:srgbClr val="4F6BFF"/>
          </a:solidFill>
          <a:ln/>
        </p:spPr>
      </p:sp>
      <p:sp>
        <p:nvSpPr>
          <p:cNvPr id="48" name="Text 46"/>
          <p:cNvSpPr/>
          <p:nvPr/>
        </p:nvSpPr>
        <p:spPr>
          <a:xfrm>
            <a:off x="1051560" y="56235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1508760" y="553212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missing?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1508760" y="5824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Anything I'd need for production?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7498080" y="3291840"/>
            <a:ext cx="3749040" cy="3017520"/>
          </a:xfrm>
          <a:prstGeom prst="rect">
            <a:avLst/>
          </a:prstGeom>
          <a:solidFill>
            <a:srgbClr val="1A2853">
              <a:alpha val="65000"/>
            </a:srgbClr>
          </a:solidFill>
          <a:ln/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7498080" y="3291840"/>
            <a:ext cx="54864" cy="3017520"/>
          </a:xfrm>
          <a:prstGeom prst="rect">
            <a:avLst/>
          </a:prstGeom>
          <a:solidFill>
            <a:srgbClr val="4F6BFF"/>
          </a:solidFill>
          <a:ln/>
        </p:spPr>
      </p:sp>
      <p:sp>
        <p:nvSpPr>
          <p:cNvPr id="53" name="Text 51"/>
          <p:cNvSpPr/>
          <p:nvPr/>
        </p:nvSpPr>
        <p:spPr>
          <a:xfrm>
            <a:off x="7726680" y="34747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4F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RESOURCES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7726680" y="38862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E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8732520" y="38862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7D2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github.com/&lt;you&gt;/EverStage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7726680" y="42976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E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 report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8732520" y="42976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7D2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report:rich</a:t>
            </a:r>
            <a:endParaRPr lang="en-US" sz="950" dirty="0"/>
          </a:p>
        </p:txBody>
      </p:sp>
      <p:sp>
        <p:nvSpPr>
          <p:cNvPr id="58" name="Text 56"/>
          <p:cNvSpPr/>
          <p:nvPr/>
        </p:nvSpPr>
        <p:spPr>
          <a:xfrm>
            <a:off x="7726680" y="47091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E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plan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8732520" y="47091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7D2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docs/EVERSTAGE-TEST-PLAN.md</a:t>
            </a:r>
            <a:endParaRPr lang="en-US" sz="950" dirty="0"/>
          </a:p>
        </p:txBody>
      </p:sp>
      <p:sp>
        <p:nvSpPr>
          <p:cNvPr id="60" name="Text 58"/>
          <p:cNvSpPr/>
          <p:nvPr/>
        </p:nvSpPr>
        <p:spPr>
          <a:xfrm>
            <a:off x="7726680" y="51206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E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tour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8732520" y="5120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7D2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docs/CODE-TOUR.md</a:t>
            </a:r>
            <a:endParaRPr lang="en-US" sz="950" dirty="0"/>
          </a:p>
        </p:txBody>
      </p:sp>
      <p:sp>
        <p:nvSpPr>
          <p:cNvPr id="62" name="Text 60"/>
          <p:cNvSpPr/>
          <p:nvPr/>
        </p:nvSpPr>
        <p:spPr>
          <a:xfrm>
            <a:off x="7726680" y="553212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E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doc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8732520" y="55321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7D2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docs/DEEP-TEST-REPORT.md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822960" y="64922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Ashik Mohamed  ·  Everstage QA Engineering Assessment  ·  2026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Everstage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Everstage QA Assessment — Juice Shop Automation</dc:title>
  <dc:subject>PptxGenJS Presentation</dc:subject>
  <dc:creator>Ashik Mohamed</dc:creator>
  <cp:lastModifiedBy>Ashik Mohamed</cp:lastModifiedBy>
  <cp:revision>1</cp:revision>
  <dcterms:created xsi:type="dcterms:W3CDTF">2026-05-10T16:18:00Z</dcterms:created>
  <dcterms:modified xsi:type="dcterms:W3CDTF">2026-05-10T16:18:00Z</dcterms:modified>
</cp:coreProperties>
</file>